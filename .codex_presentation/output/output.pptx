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e6e6d95cbc4e4a" /><Relationship Type="http://schemas.openxmlformats.org/officeDocument/2006/relationships/extended-properties" Target="/docProps/app.xml" Id="Rfba6ada53c4e4f73" /><Relationship Type="http://schemas.openxmlformats.org/officeDocument/2006/relationships/officeDocument" Target="/ppt/presentation.xml" Id="R5f5054a437b049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53faee4b2e41f4"/>
  </p:sldMasterIdLst>
  <p:notesMasterIdLst>
    <p:notesMasterId xmlns:r="http://schemas.openxmlformats.org/officeDocument/2006/relationships" r:id="R5b25c7f8c94c4856"/>
  </p:notesMasterIdLst>
  <p:sldIdLst>
    <p:sldId xmlns:r="http://schemas.openxmlformats.org/officeDocument/2006/relationships" id="256" r:id="Rf91de11dc92b4552"/>
    <p:sldId xmlns:r="http://schemas.openxmlformats.org/officeDocument/2006/relationships" id="257" r:id="Rf5b896e62780477a"/>
    <p:sldId xmlns:r="http://schemas.openxmlformats.org/officeDocument/2006/relationships" id="258" r:id="Rd1629fab531044ba"/>
    <p:sldId xmlns:r="http://schemas.openxmlformats.org/officeDocument/2006/relationships" id="259" r:id="R8c6d7f12ea934b8a"/>
    <p:sldId xmlns:r="http://schemas.openxmlformats.org/officeDocument/2006/relationships" id="260" r:id="R9c0a804405bb4669"/>
    <p:sldId xmlns:r="http://schemas.openxmlformats.org/officeDocument/2006/relationships" id="261" r:id="R7531811634ba4ba0"/>
    <p:sldId xmlns:r="http://schemas.openxmlformats.org/officeDocument/2006/relationships" id="262" r:id="R2a5ee29481434de5"/>
    <p:sldId xmlns:r="http://schemas.openxmlformats.org/officeDocument/2006/relationships" id="263" r:id="R64664cdef0994023"/>
    <p:sldId xmlns:r="http://schemas.openxmlformats.org/officeDocument/2006/relationships" id="264" r:id="R74034276a3db4fca"/>
    <p:sldId xmlns:r="http://schemas.openxmlformats.org/officeDocument/2006/relationships" id="265" r:id="Ra02aab7492704da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3faee4b2e41f4" /><Relationship Type="http://schemas.openxmlformats.org/officeDocument/2006/relationships/theme" Target="/ppt/theme/theme1.xml" Id="R9d7563e624c3415b" /><Relationship Type="http://schemas.openxmlformats.org/officeDocument/2006/relationships/notesMaster" Target="/ppt/notesMasters/notesMaster1.xml" Id="R5b25c7f8c94c4856" /><Relationship Type="http://schemas.openxmlformats.org/officeDocument/2006/relationships/presProps" Target="/ppt/presProps.xml" Id="R108da1e108b34de5" /><Relationship Type="http://schemas.openxmlformats.org/officeDocument/2006/relationships/viewProps" Target="/ppt/viewProps.xml" Id="Rb294709ee7e148f3" /><Relationship Type="http://schemas.openxmlformats.org/officeDocument/2006/relationships/tableStyles" Target="/ppt/tableStyles.xml" Id="R7be4cbf11759414b" /><Relationship Type="http://schemas.openxmlformats.org/officeDocument/2006/relationships/slide" Target="/ppt/slides/slide1.xml" Id="Rf91de11dc92b4552" /><Relationship Type="http://schemas.openxmlformats.org/officeDocument/2006/relationships/slide" Target="/ppt/slides/slide2.xml" Id="Rf5b896e62780477a" /><Relationship Type="http://schemas.openxmlformats.org/officeDocument/2006/relationships/slide" Target="/ppt/slides/slide3.xml" Id="Rd1629fab531044ba" /><Relationship Type="http://schemas.openxmlformats.org/officeDocument/2006/relationships/slide" Target="/ppt/slides/slide4.xml" Id="R8c6d7f12ea934b8a" /><Relationship Type="http://schemas.openxmlformats.org/officeDocument/2006/relationships/slide" Target="/ppt/slides/slide5.xml" Id="R9c0a804405bb4669" /><Relationship Type="http://schemas.openxmlformats.org/officeDocument/2006/relationships/slide" Target="/ppt/slides/slide6.xml" Id="R7531811634ba4ba0" /><Relationship Type="http://schemas.openxmlformats.org/officeDocument/2006/relationships/slide" Target="/ppt/slides/slide7.xml" Id="R2a5ee29481434de5" /><Relationship Type="http://schemas.openxmlformats.org/officeDocument/2006/relationships/slide" Target="/ppt/slides/slide8.xml" Id="R64664cdef0994023" /><Relationship Type="http://schemas.openxmlformats.org/officeDocument/2006/relationships/slide" Target="/ppt/slides/slide9.xml" Id="R74034276a3db4fca" /><Relationship Type="http://schemas.openxmlformats.org/officeDocument/2006/relationships/slide" Target="/ppt/slides/slide10.xml" Id="Ra02aab7492704d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327ee9e79f148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e6c94584a44cc2" /><Relationship Type="http://schemas.openxmlformats.org/officeDocument/2006/relationships/notesMaster" Target="/ppt/notesMasters/notesMaster1.xml" Id="R90e793a6c5c646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4bba79d2364b94" /><Relationship Type="http://schemas.openxmlformats.org/officeDocument/2006/relationships/notesMaster" Target="/ppt/notesMasters/notesMaster1.xml" Id="Rf93ea5c5b73148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eea6d2f4004ab1" /><Relationship Type="http://schemas.openxmlformats.org/officeDocument/2006/relationships/notesMaster" Target="/ppt/notesMasters/notesMaster1.xml" Id="Rf4af2c37d2154e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83dc0859bc47d6" /><Relationship Type="http://schemas.openxmlformats.org/officeDocument/2006/relationships/notesMaster" Target="/ppt/notesMasters/notesMaster1.xml" Id="R2bf95537cd554d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2ff478e8f948e1" /><Relationship Type="http://schemas.openxmlformats.org/officeDocument/2006/relationships/notesMaster" Target="/ppt/notesMasters/notesMaster1.xml" Id="R97c96828f77048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9ac6c744af45a0" /><Relationship Type="http://schemas.openxmlformats.org/officeDocument/2006/relationships/notesMaster" Target="/ppt/notesMasters/notesMaster1.xml" Id="Rbeb5f2fa7af14bd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94faace47b4a1a" /><Relationship Type="http://schemas.openxmlformats.org/officeDocument/2006/relationships/notesMaster" Target="/ppt/notesMasters/notesMaster1.xml" Id="R0d36fb6daf3e4d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2cf47295454b25" /><Relationship Type="http://schemas.openxmlformats.org/officeDocument/2006/relationships/notesMaster" Target="/ppt/notesMasters/notesMaster1.xml" Id="Rbfaaa556e5a04c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1f79e2fe014982" /><Relationship Type="http://schemas.openxmlformats.org/officeDocument/2006/relationships/notesMaster" Target="/ppt/notesMasters/notesMaster1.xml" Id="R8c4ad02c6a754a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4af5a4e0ec48ff" /><Relationship Type="http://schemas.openxmlformats.org/officeDocument/2006/relationships/notesMaster" Target="/ppt/notesMasters/notesMaster1.xml" Id="R2d77d48e877449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2a8e3c59d4da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e0b16e456754c38" /><Relationship Type="http://schemas.openxmlformats.org/officeDocument/2006/relationships/slideLayout" Target="/ppt/slideLayouts/slideLayout2.xml" Id="Rcfc3fd51530045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c3fd51530045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c30986b6474fc4" /><Relationship Type="http://schemas.openxmlformats.org/officeDocument/2006/relationships/notesSlide" Target="/ppt/notesSlides/notesSlide1.xml" Id="R2647b6c04f094b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e8f5360c714e7a" /><Relationship Type="http://schemas.openxmlformats.org/officeDocument/2006/relationships/notesSlide" Target="/ppt/notesSlides/notesSlide2.xml" Id="R695f1bb92ce648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8c5aafab734737" /><Relationship Type="http://schemas.openxmlformats.org/officeDocument/2006/relationships/notesSlide" Target="/ppt/notesSlides/notesSlide3.xml" Id="Rde54518fe1e340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5ecff674764a48" /><Relationship Type="http://schemas.openxmlformats.org/officeDocument/2006/relationships/notesSlide" Target="/ppt/notesSlides/notesSlide4.xml" Id="Rb5217cd39e814e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04f7530d884d93" /><Relationship Type="http://schemas.openxmlformats.org/officeDocument/2006/relationships/notesSlide" Target="/ppt/notesSlides/notesSlide5.xml" Id="Rab4212f7f87e43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2b65251644037" /><Relationship Type="http://schemas.openxmlformats.org/officeDocument/2006/relationships/notesSlide" Target="/ppt/notesSlides/notesSlide6.xml" Id="Raed71dfc08b249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05144078234a6b" /><Relationship Type="http://schemas.openxmlformats.org/officeDocument/2006/relationships/notesSlide" Target="/ppt/notesSlides/notesSlide7.xml" Id="R2a7d4fb4b51d48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9ca2535eb04b03" /><Relationship Type="http://schemas.openxmlformats.org/officeDocument/2006/relationships/notesSlide" Target="/ppt/notesSlides/notesSlide8.xml" Id="R7c76cf6e74f24e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918f6a92114d69" /><Relationship Type="http://schemas.openxmlformats.org/officeDocument/2006/relationships/notesSlide" Target="/ppt/notesSlides/notesSlide9.xml" Id="Raad4b18682f74c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92ce6aeef44905" /><Relationship Type="http://schemas.openxmlformats.org/officeDocument/2006/relationships/notesSlide" Target="/ppt/notesSlides/notesSlide10.xml" Id="R56ac25fe69d246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9E927B6-3CD4-4C06-9CF2-1CC20DD9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9E8590DD-6AB7-4B5F-A109-5F11824D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901A0FF-B4C2-47F9-BE83-0BC6DC55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809625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150" b="1">
                <a:solidFill>
                  <a:srgbClr val="EAE2D4"/>
                </a:solidFill>
              </a:defRPr>
            </a:pPr>
            <a:r>
              <a:rPr sz="9150" b="1">
                <a:solidFill>
                  <a:srgbClr val="EAE2D4"/>
                </a:solidFill>
              </a:rPr>
              <a:t>匠心永驻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B5C944E-AB2F-46D9-9A6C-419D427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5505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F2D28C"/>
                </a:solidFill>
              </a:defRPr>
            </a:pPr>
            <a:r>
              <a:rPr sz="2550">
                <a:solidFill>
                  <a:srgbClr val="F2D28C"/>
                </a:solidFill>
              </a:rPr>
              <a:t>中国古代建筑成就互动叙事可视化系统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4CD1AEB7-F5C3-498F-ABBF-75E45725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631"/>
          </a:solidFill>
          <a:ln xmlns:a="http://schemas.openxmlformats.org/drawingml/2006/main" w="0">
            <a:solidFill>
              <a:srgbClr val="B84631"/>
            </a:solidFill>
            <a:prstDash val="solid"/>
          </a:ln>
        </p:spPr>
      </p:sp>
      <p:sp>
        <p:nvSpPr>
          <p:cNvPr id="6" name="chip-三维可视化">
            <a:extLst xmlns:a="http://schemas.openxmlformats.org/drawingml/2006/main">
              <a:ext uri="{FF2B5EF4-FFF2-40B4-BE49-F238E27FC236}">
                <a16:creationId xmlns:a16="http://schemas.microsoft.com/office/drawing/2014/main" id="{EAE66D68-3470-411A-A27E-203D26C7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76913"/>
            <a:ext cx="16383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9F619-D6FD-4102-AC70-D9D1D52C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05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三维可视化</a:t>
            </a:r>
          </a:p>
        </p:txBody>
      </p:sp>
      <p:sp>
        <p:nvSpPr>
          <p:cNvPr id="8" name="chip-AI 导览">
            <a:extLst xmlns:a="http://schemas.openxmlformats.org/drawingml/2006/main">
              <a:ext uri="{FF2B5EF4-FFF2-40B4-BE49-F238E27FC236}">
                <a16:creationId xmlns:a16="http://schemas.microsoft.com/office/drawing/2014/main" id="{C107703C-10C0-4358-AB45-6C56C085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76913"/>
            <a:ext cx="1203674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B3A5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E6C14-485D-4249-A017-2CFCD2F3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905500"/>
            <a:ext cx="7048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AI 导览</a:t>
            </a:r>
          </a:p>
        </p:txBody>
      </p:sp>
      <p:sp>
        <p:nvSpPr>
          <p:cNvPr id="10" name="chip-AR 沉浸">
            <a:extLst xmlns:a="http://schemas.openxmlformats.org/drawingml/2006/main">
              <a:ext uri="{FF2B5EF4-FFF2-40B4-BE49-F238E27FC236}">
                <a16:creationId xmlns:a16="http://schemas.microsoft.com/office/drawing/2014/main" id="{155085BC-173A-4F87-A8FC-C6B2553F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3574" y="5776913"/>
            <a:ext cx="1271397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631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50F6E-55B8-4215-B10B-3CA653C1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905500"/>
            <a:ext cx="781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AR 沉浸</a:t>
            </a:r>
          </a:p>
        </p:txBody>
      </p:sp>
      <p:sp>
        <p:nvSpPr>
          <p:cNvPr id="12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7ACE1494-25F9-47AC-AE31-48954D86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00850"/>
            <a:ext cx="2514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FA79A"/>
                </a:solidFill>
              </a:defRPr>
            </a:pPr>
            <a:r>
              <a:rPr sz="1800">
                <a:solidFill>
                  <a:srgbClr val="AFA79A"/>
                </a:solidFill>
              </a:rPr>
              <a:t>计算机设计大赛省赛答辩</a:t>
            </a:r>
          </a:p>
        </p:txBody>
      </p:sp>
      <p:sp>
        <p:nvSpPr>
          <p:cNvPr id="13" name="cover-mark-field">
            <a:extLst xmlns:a="http://schemas.openxmlformats.org/drawingml/2006/main">
              <a:ext uri="{FF2B5EF4-FFF2-40B4-BE49-F238E27FC236}">
                <a16:creationId xmlns:a16="http://schemas.microsoft.com/office/drawing/2014/main" id="{4B4E1DD7-FEDE-4A59-80EF-0303F136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838200"/>
            <a:ext cx="7467600" cy="861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6"/>
          </a:solidFill>
          <a:ln xmlns:a="http://schemas.openxmlformats.org/drawingml/2006/main" w="0">
            <a:prstDash val="solid"/>
          </a:ln>
        </p:spPr>
      </p:sp>
      <p:sp>
        <p:nvSpPr>
          <p:cNvPr id="14" name="cover-cell-0">
            <a:extLst xmlns:a="http://schemas.openxmlformats.org/drawingml/2006/main">
              <a:ext uri="{FF2B5EF4-FFF2-40B4-BE49-F238E27FC236}">
                <a16:creationId xmlns:a16="http://schemas.microsoft.com/office/drawing/2014/main" id="{0DA330D3-FC9A-4820-8A55-15D4F553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295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15" name="cover-cell-1">
            <a:extLst xmlns:a="http://schemas.openxmlformats.org/drawingml/2006/main">
              <a:ext uri="{FF2B5EF4-FFF2-40B4-BE49-F238E27FC236}">
                <a16:creationId xmlns:a16="http://schemas.microsoft.com/office/drawing/2014/main" id="{79FECCDA-2D48-4FC0-A258-77B571CA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1295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16" name="cover-cell-2">
            <a:extLst xmlns:a="http://schemas.openxmlformats.org/drawingml/2006/main">
              <a:ext uri="{FF2B5EF4-FFF2-40B4-BE49-F238E27FC236}">
                <a16:creationId xmlns:a16="http://schemas.microsoft.com/office/drawing/2014/main" id="{7FD78C0C-50EC-4746-94A0-F0B4761B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1295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17" name="cover-cell-3">
            <a:extLst xmlns:a="http://schemas.openxmlformats.org/drawingml/2006/main">
              <a:ext uri="{FF2B5EF4-FFF2-40B4-BE49-F238E27FC236}">
                <a16:creationId xmlns:a16="http://schemas.microsoft.com/office/drawing/2014/main" id="{7D69767B-647F-4207-8D00-FC985748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1295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18" name="cover-cell-4">
            <a:extLst xmlns:a="http://schemas.openxmlformats.org/drawingml/2006/main">
              <a:ext uri="{FF2B5EF4-FFF2-40B4-BE49-F238E27FC236}">
                <a16:creationId xmlns:a16="http://schemas.microsoft.com/office/drawing/2014/main" id="{E0747C45-C46A-4B68-B0CC-2DA9DF85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1295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19" name="cover-cell-5">
            <a:extLst xmlns:a="http://schemas.openxmlformats.org/drawingml/2006/main">
              <a:ext uri="{FF2B5EF4-FFF2-40B4-BE49-F238E27FC236}">
                <a16:creationId xmlns:a16="http://schemas.microsoft.com/office/drawing/2014/main" id="{A53AB3BD-5ED0-40C0-81A2-E10D03DD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819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631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0" name="cover-cell-6">
            <a:extLst xmlns:a="http://schemas.openxmlformats.org/drawingml/2006/main">
              <a:ext uri="{FF2B5EF4-FFF2-40B4-BE49-F238E27FC236}">
                <a16:creationId xmlns:a16="http://schemas.microsoft.com/office/drawing/2014/main" id="{18F7CA5F-3A8F-408A-9851-7013462A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2819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1" name="cover-cell-7">
            <a:extLst xmlns:a="http://schemas.openxmlformats.org/drawingml/2006/main">
              <a:ext uri="{FF2B5EF4-FFF2-40B4-BE49-F238E27FC236}">
                <a16:creationId xmlns:a16="http://schemas.microsoft.com/office/drawing/2014/main" id="{A5998AC3-5B68-48F8-9EF5-0815E2BD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2819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2" name="cover-cell-8">
            <a:extLst xmlns:a="http://schemas.openxmlformats.org/drawingml/2006/main">
              <a:ext uri="{FF2B5EF4-FFF2-40B4-BE49-F238E27FC236}">
                <a16:creationId xmlns:a16="http://schemas.microsoft.com/office/drawing/2014/main" id="{27ACF854-CF13-4862-AEF2-9225320F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2819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3" name="cover-cell-9">
            <a:extLst xmlns:a="http://schemas.openxmlformats.org/drawingml/2006/main">
              <a:ext uri="{FF2B5EF4-FFF2-40B4-BE49-F238E27FC236}">
                <a16:creationId xmlns:a16="http://schemas.microsoft.com/office/drawing/2014/main" id="{BCEB928D-BD09-4A54-A7DE-0304E0D7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28194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4" name="cover-cell-10">
            <a:extLst xmlns:a="http://schemas.openxmlformats.org/drawingml/2006/main">
              <a:ext uri="{FF2B5EF4-FFF2-40B4-BE49-F238E27FC236}">
                <a16:creationId xmlns:a16="http://schemas.microsoft.com/office/drawing/2014/main" id="{3A41EA82-F63D-481C-AA9B-5BEE013B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4196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631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5" name="cover-cell-11">
            <a:extLst xmlns:a="http://schemas.openxmlformats.org/drawingml/2006/main">
              <a:ext uri="{FF2B5EF4-FFF2-40B4-BE49-F238E27FC236}">
                <a16:creationId xmlns:a16="http://schemas.microsoft.com/office/drawing/2014/main" id="{24C8CCD0-CA80-4399-9938-70BD1839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4196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6" name="cover-cell-12">
            <a:extLst xmlns:a="http://schemas.openxmlformats.org/drawingml/2006/main">
              <a:ext uri="{FF2B5EF4-FFF2-40B4-BE49-F238E27FC236}">
                <a16:creationId xmlns:a16="http://schemas.microsoft.com/office/drawing/2014/main" id="{AC79FF56-34BD-4571-8872-6AA1D92F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4196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7" name="cover-cell-13">
            <a:extLst xmlns:a="http://schemas.openxmlformats.org/drawingml/2006/main">
              <a:ext uri="{FF2B5EF4-FFF2-40B4-BE49-F238E27FC236}">
                <a16:creationId xmlns:a16="http://schemas.microsoft.com/office/drawing/2014/main" id="{24FE3EEA-DCA1-4F3F-853D-B5D0FA37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4196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8" name="cover-cell-14">
            <a:extLst xmlns:a="http://schemas.openxmlformats.org/drawingml/2006/main">
              <a:ext uri="{FF2B5EF4-FFF2-40B4-BE49-F238E27FC236}">
                <a16:creationId xmlns:a16="http://schemas.microsoft.com/office/drawing/2014/main" id="{03CD2E6D-DC35-4658-A55B-0921E0FA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44196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29" name="cover-cell-15">
            <a:extLst xmlns:a="http://schemas.openxmlformats.org/drawingml/2006/main">
              <a:ext uri="{FF2B5EF4-FFF2-40B4-BE49-F238E27FC236}">
                <a16:creationId xmlns:a16="http://schemas.microsoft.com/office/drawing/2014/main" id="{4EF274B0-3532-4AB5-8690-7459432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60198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631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0" name="cover-cell-16">
            <a:extLst xmlns:a="http://schemas.openxmlformats.org/drawingml/2006/main">
              <a:ext uri="{FF2B5EF4-FFF2-40B4-BE49-F238E27FC236}">
                <a16:creationId xmlns:a16="http://schemas.microsoft.com/office/drawing/2014/main" id="{7AA3314C-5170-442E-9B39-6FEDCEB3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0198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1" name="cover-cell-17">
            <a:extLst xmlns:a="http://schemas.openxmlformats.org/drawingml/2006/main">
              <a:ext uri="{FF2B5EF4-FFF2-40B4-BE49-F238E27FC236}">
                <a16:creationId xmlns:a16="http://schemas.microsoft.com/office/drawing/2014/main" id="{6D612CBD-47AE-455F-B7B9-FB557168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60198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2" name="cover-cell-18">
            <a:extLst xmlns:a="http://schemas.openxmlformats.org/drawingml/2006/main">
              <a:ext uri="{FF2B5EF4-FFF2-40B4-BE49-F238E27FC236}">
                <a16:creationId xmlns:a16="http://schemas.microsoft.com/office/drawing/2014/main" id="{ECD9E9AF-1317-4204-A8EC-E6CC76D7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0198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3" name="cover-cell-19">
            <a:extLst xmlns:a="http://schemas.openxmlformats.org/drawingml/2006/main">
              <a:ext uri="{FF2B5EF4-FFF2-40B4-BE49-F238E27FC236}">
                <a16:creationId xmlns:a16="http://schemas.microsoft.com/office/drawing/2014/main" id="{1413735E-4782-418E-9175-9048C845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60198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4" name="cover-cell-20">
            <a:extLst xmlns:a="http://schemas.openxmlformats.org/drawingml/2006/main">
              <a:ext uri="{FF2B5EF4-FFF2-40B4-BE49-F238E27FC236}">
                <a16:creationId xmlns:a16="http://schemas.microsoft.com/office/drawing/2014/main" id="{F48C6DDE-6428-44FF-9C8F-FFA271AF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76200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631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5" name="cover-cell-21">
            <a:extLst xmlns:a="http://schemas.openxmlformats.org/drawingml/2006/main">
              <a:ext uri="{FF2B5EF4-FFF2-40B4-BE49-F238E27FC236}">
                <a16:creationId xmlns:a16="http://schemas.microsoft.com/office/drawing/2014/main" id="{7350ED82-43EA-4135-BA1D-01399B0B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76200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6" name="cover-cell-22">
            <a:extLst xmlns:a="http://schemas.openxmlformats.org/drawingml/2006/main">
              <a:ext uri="{FF2B5EF4-FFF2-40B4-BE49-F238E27FC236}">
                <a16:creationId xmlns:a16="http://schemas.microsoft.com/office/drawing/2014/main" id="{22FD9E68-4A00-4A42-9965-2A82A232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6200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7" name="cover-cell-23">
            <a:extLst xmlns:a="http://schemas.openxmlformats.org/drawingml/2006/main">
              <a:ext uri="{FF2B5EF4-FFF2-40B4-BE49-F238E27FC236}">
                <a16:creationId xmlns:a16="http://schemas.microsoft.com/office/drawing/2014/main" id="{E3EC6C18-7434-4F6F-9B73-62A08126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76200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E24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8" name="cover-cell-24">
            <a:extLst xmlns:a="http://schemas.openxmlformats.org/drawingml/2006/main">
              <a:ext uri="{FF2B5EF4-FFF2-40B4-BE49-F238E27FC236}">
                <a16:creationId xmlns:a16="http://schemas.microsoft.com/office/drawing/2014/main" id="{AEAE399A-FF81-492E-87EA-A2E662A7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7620000"/>
            <a:ext cx="1219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9525">
            <a:solidFill>
              <a:srgbClr val="2A2A24"/>
            </a:solidFill>
            <a:prstDash val="solid"/>
          </a:ln>
        </p:spPr>
      </p:sp>
      <p:sp>
        <p:nvSpPr>
          <p:cNvPr id="39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D3199786-3185-49DA-BBC5-4782BCE6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8077200"/>
            <a:ext cx="6000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E2D4"/>
                </a:solidFill>
              </a:defRPr>
            </a:pPr>
            <a:r>
              <a:rPr sz="3300" b="1">
                <a:solidFill>
                  <a:srgbClr val="EAE2D4"/>
                </a:solidFill>
              </a:rPr>
              <a:t>让古建筑从“被观看”走向“被理解”</a:t>
            </a:r>
          </a:p>
        </p:txBody>
      </p:sp>
    </p:spTree>
    <p:extLst>
      <p:ext uri="{BB962C8B-B14F-4D97-AF65-F5344CB8AC3E}">
        <p14:creationId xmlns:p14="http://schemas.microsoft.com/office/powerpoint/2010/main" val="20291095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248B906A-CA0F-4FFD-B52D-9895D25E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A5D22B24-691F-4075-A34D-182B3007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D88848-FE1D-43D3-AEA7-DFEA012E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"/>
            <a:ext cx="668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E2D4"/>
                </a:solidFill>
              </a:defRPr>
            </a:pPr>
            <a:r>
              <a:rPr sz="4050" b="1">
                <a:solidFill>
                  <a:srgbClr val="EAE2D4"/>
                </a:solidFill>
              </a:rPr>
              <a:t>我们解决的是古建筑理解门槛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5A1974D-3D3F-4F11-AFE9-24103D37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685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FA79A"/>
                </a:solidFill>
              </a:defRPr>
            </a:pPr>
            <a:r>
              <a:rPr sz="1800">
                <a:solidFill>
                  <a:srgbClr val="AFA79A"/>
                </a:solidFill>
              </a:rPr>
              <a:t>古建筑知识抽象、结构复杂、传播方式静态，是现场答辩的切入点。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9F8C6528-B4D9-437B-BE00-82343235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0287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659"/>
                </a:solidFill>
              </a:defRPr>
            </a:pPr>
            <a:r>
              <a:rPr sz="1350" b="1">
                <a:solidFill>
                  <a:srgbClr val="6F6659"/>
                </a:solidFill>
              </a:rPr>
              <a:t>02</a:t>
            </a:r>
          </a:p>
        </p:txBody>
      </p:sp>
      <p:sp>
        <p:nvSpPr>
          <p:cNvPr id="6" name="old-title">
            <a:extLst xmlns:a="http://schemas.openxmlformats.org/drawingml/2006/main">
              <a:ext uri="{FF2B5EF4-FFF2-40B4-BE49-F238E27FC236}">
                <a16:creationId xmlns:a16="http://schemas.microsoft.com/office/drawing/2014/main" id="{BD552775-9532-4213-8F00-34EC2120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6934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FA79A"/>
                </a:solidFill>
              </a:defRPr>
            </a:pPr>
            <a:r>
              <a:rPr sz="3300" b="1">
                <a:solidFill>
                  <a:srgbClr val="AFA79A"/>
                </a:solidFill>
              </a:rPr>
              <a:t>传统传播</a:t>
            </a:r>
          </a:p>
        </p:txBody>
      </p:sp>
      <p:sp>
        <p:nvSpPr>
          <p:cNvPr id="7" name="old-list">
            <a:extLst xmlns:a="http://schemas.openxmlformats.org/drawingml/2006/main">
              <a:ext uri="{FF2B5EF4-FFF2-40B4-BE49-F238E27FC236}">
                <a16:creationId xmlns:a16="http://schemas.microsoft.com/office/drawing/2014/main" id="{0B9A6B88-7B4C-416B-8551-66CF3B13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69342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756F66"/>
                </a:solidFill>
              </a:defRPr>
            </a:pPr>
            <a:r>
              <a:rPr sz="3000">
                <a:solidFill>
                  <a:srgbClr val="756F66"/>
                </a:solidFill>
              </a:rPr>
              <a:t>图文静态</a:t>
            </a:r>
          </a:p>
          <a:p xmlns:a="http://schemas.openxmlformats.org/drawingml/2006/main">
            <a:pPr>
              <a:defRPr sz="3000">
                <a:solidFill>
                  <a:srgbClr val="756F66"/>
                </a:solidFill>
              </a:defRPr>
            </a:pPr>
            <a:r>
              <a:rPr sz="3000">
                <a:solidFill>
                  <a:srgbClr val="756F66"/>
                </a:solidFill>
              </a:rPr>
              <a:t>结构难懂</a:t>
            </a:r>
          </a:p>
          <a:p xmlns:a="http://schemas.openxmlformats.org/drawingml/2006/main">
            <a:pPr>
              <a:defRPr sz="3000">
                <a:solidFill>
                  <a:srgbClr val="756F66"/>
                </a:solidFill>
              </a:defRPr>
            </a:pPr>
            <a:r>
              <a:rPr sz="3000">
                <a:solidFill>
                  <a:srgbClr val="756F66"/>
                </a:solidFill>
              </a:rPr>
              <a:t>体验割裂</a:t>
            </a:r>
          </a:p>
        </p:txBody>
      </p:sp>
      <p:sp>
        <p:nvSpPr>
          <p:cNvPr id="8" name="arrow-line-1">
            <a:extLst xmlns:a="http://schemas.openxmlformats.org/drawingml/2006/main">
              <a:ext uri="{FF2B5EF4-FFF2-40B4-BE49-F238E27FC236}">
                <a16:creationId xmlns:a16="http://schemas.microsoft.com/office/drawing/2014/main" id="{F31FBEC2-4B3B-4FF9-B295-ECA1DC10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D8A84E"/>
            </a:solidFill>
            <a:prstDash val="solid"/>
          </a:ln>
        </p:spPr>
      </p:sp>
      <p:sp>
        <p:nvSpPr>
          <p:cNvPr id="9" name="arrow-word">
            <a:extLst xmlns:a="http://schemas.openxmlformats.org/drawingml/2006/main">
              <a:ext uri="{FF2B5EF4-FFF2-40B4-BE49-F238E27FC236}">
                <a16:creationId xmlns:a16="http://schemas.microsoft.com/office/drawing/2014/main" id="{62AB5631-78FB-44DA-AF4F-65787B6D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5310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D28C"/>
                </a:solidFill>
              </a:defRPr>
            </a:pPr>
            <a:r>
              <a:rPr sz="2250" b="1">
                <a:solidFill>
                  <a:srgbClr val="F2D28C"/>
                </a:solidFill>
              </a:rPr>
              <a:t>转译</a:t>
            </a:r>
          </a:p>
        </p:txBody>
      </p:sp>
      <p:sp>
        <p:nvSpPr>
          <p:cNvPr id="10" name="arrow-line-2">
            <a:extLst xmlns:a="http://schemas.openxmlformats.org/drawingml/2006/main">
              <a:ext uri="{FF2B5EF4-FFF2-40B4-BE49-F238E27FC236}">
                <a16:creationId xmlns:a16="http://schemas.microsoft.com/office/drawing/2014/main" id="{AB6BE11A-120A-4405-B90B-98BF16E5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103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D8A84E"/>
            </a:solidFill>
            <a:prstDash val="solid"/>
          </a:ln>
        </p:spPr>
      </p:sp>
      <p:sp>
        <p:nvSpPr>
          <p:cNvPr id="11" name="new-title">
            <a:extLst xmlns:a="http://schemas.openxmlformats.org/drawingml/2006/main">
              <a:ext uri="{FF2B5EF4-FFF2-40B4-BE49-F238E27FC236}">
                <a16:creationId xmlns:a16="http://schemas.microsoft.com/office/drawing/2014/main" id="{2BCDBB7B-E490-4EDF-82E0-44E25812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14900"/>
            <a:ext cx="6934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D28C"/>
                </a:solidFill>
              </a:defRPr>
            </a:pPr>
            <a:r>
              <a:rPr sz="3300" b="1">
                <a:solidFill>
                  <a:srgbClr val="F2D28C"/>
                </a:solidFill>
              </a:rPr>
              <a:t>项目表达</a:t>
            </a:r>
          </a:p>
        </p:txBody>
      </p:sp>
      <p:sp>
        <p:nvSpPr>
          <p:cNvPr id="12" name="chip-看得见">
            <a:extLst xmlns:a="http://schemas.openxmlformats.org/drawingml/2006/main">
              <a:ext uri="{FF2B5EF4-FFF2-40B4-BE49-F238E27FC236}">
                <a16:creationId xmlns:a16="http://schemas.microsoft.com/office/drawing/2014/main" id="{A64DD0C3-429D-4E4D-A508-BBCC0A12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619750"/>
            <a:ext cx="11811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BCF9E-6B9C-459C-A469-E0039661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75310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看得见</a:t>
            </a:r>
          </a:p>
        </p:txBody>
      </p:sp>
      <p:sp>
        <p:nvSpPr>
          <p:cNvPr id="14" name="chip-拆得开">
            <a:extLst xmlns:a="http://schemas.openxmlformats.org/drawingml/2006/main">
              <a:ext uri="{FF2B5EF4-FFF2-40B4-BE49-F238E27FC236}">
                <a16:creationId xmlns:a16="http://schemas.microsoft.com/office/drawing/2014/main" id="{8E27BE16-7EF8-4098-B9FF-8D2E71F6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5619750"/>
            <a:ext cx="11811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B3A5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46F1F-52BF-4593-ADA6-C0C7DF85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75310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拆得开</a:t>
            </a:r>
          </a:p>
        </p:txBody>
      </p:sp>
      <p:sp>
        <p:nvSpPr>
          <p:cNvPr id="16" name="chip-讲得清">
            <a:extLst xmlns:a="http://schemas.openxmlformats.org/drawingml/2006/main">
              <a:ext uri="{FF2B5EF4-FFF2-40B4-BE49-F238E27FC236}">
                <a16:creationId xmlns:a16="http://schemas.microsoft.com/office/drawing/2014/main" id="{4AE1970C-68F2-40E3-B4E4-C726E82D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6381750"/>
            <a:ext cx="11811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631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663D1-7F01-47C3-AD05-D2AD9F30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1510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讲得清</a:t>
            </a:r>
          </a:p>
        </p:txBody>
      </p:sp>
      <p:sp>
        <p:nvSpPr>
          <p:cNvPr id="18" name="chip-可传播">
            <a:extLst xmlns:a="http://schemas.openxmlformats.org/drawingml/2006/main">
              <a:ext uri="{FF2B5EF4-FFF2-40B4-BE49-F238E27FC236}">
                <a16:creationId xmlns:a16="http://schemas.microsoft.com/office/drawing/2014/main" id="{C7D0AA09-9705-413B-BD08-B4936DB0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6381750"/>
            <a:ext cx="11811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90F9E-3587-4DC6-8AF5-8D9073E5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651510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可传播</a:t>
            </a:r>
          </a:p>
        </p:txBody>
      </p:sp>
    </p:spTree>
    <p:extLst>
      <p:ext uri="{BB962C8B-B14F-4D97-AF65-F5344CB8AC3E}">
        <p14:creationId xmlns:p14="http://schemas.microsoft.com/office/powerpoint/2010/main" val="6332590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9F463AC-2204-4F1D-931D-7F5FC96A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8C34845F-726D-477E-928A-51F7D7AD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17AC09-E5E8-4402-A339-9941A36B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"/>
            <a:ext cx="771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E2D4"/>
                </a:solidFill>
              </a:defRPr>
            </a:pPr>
            <a:r>
              <a:rPr sz="4050" b="1">
                <a:solidFill>
                  <a:srgbClr val="EAE2D4"/>
                </a:solidFill>
              </a:rPr>
              <a:t>一套面向答辩现场的数字古建展馆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F372128-C8BF-4FF3-975D-CF3544B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594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FA79A"/>
                </a:solidFill>
              </a:defRPr>
            </a:pPr>
            <a:r>
              <a:rPr sz="1800">
                <a:solidFill>
                  <a:srgbClr val="AFA79A"/>
                </a:solidFill>
              </a:rPr>
              <a:t>从结构认知到智能导览，再到多端交付，形成完整体验链。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EFF18AC5-BE38-411F-BD4C-B1770391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0287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659"/>
                </a:solidFill>
              </a:defRPr>
            </a:pPr>
            <a:r>
              <a:rPr sz="1350" b="1">
                <a:solidFill>
                  <a:srgbClr val="6F6659"/>
                </a:solidFill>
              </a:rPr>
              <a:t>03</a:t>
            </a:r>
          </a:p>
        </p:txBody>
      </p:sp>
      <p:sp>
        <p:nvSpPr>
          <p:cNvPr id="6" name="metric-value-斗拱 / 角楼 / 四合院 / 赵州桥">
            <a:extLst xmlns:a="http://schemas.openxmlformats.org/drawingml/2006/main">
              <a:ext uri="{FF2B5EF4-FFF2-40B4-BE49-F238E27FC236}">
                <a16:creationId xmlns:a16="http://schemas.microsoft.com/office/drawing/2014/main" id="{31EB8025-B59E-402B-907A-7BF8D62E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523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8A84E"/>
                </a:solidFill>
              </a:defRPr>
            </a:pPr>
            <a:r>
              <a:rPr sz="4200" b="1">
                <a:solidFill>
                  <a:srgbClr val="D8A84E"/>
                </a:solidFill>
              </a:rPr>
              <a:t>3D 交互</a:t>
            </a:r>
          </a:p>
        </p:txBody>
      </p:sp>
      <p:sp>
        <p:nvSpPr>
          <p:cNvPr id="7" name="metric-label-斗拱 / 角楼 / 四合院 / 赵州桥">
            <a:extLst xmlns:a="http://schemas.openxmlformats.org/drawingml/2006/main">
              <a:ext uri="{FF2B5EF4-FFF2-40B4-BE49-F238E27FC236}">
                <a16:creationId xmlns:a16="http://schemas.microsoft.com/office/drawing/2014/main" id="{96E44F22-01E7-43CA-A024-A68CED17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斗拱 / 角楼 / 四合院 / 赵州桥</a:t>
            </a:r>
          </a:p>
        </p:txBody>
      </p:sp>
      <p:sp>
        <p:nvSpPr>
          <p:cNvPr id="8" name="metric-value-500 个古建筑样本组织">
            <a:extLst xmlns:a="http://schemas.openxmlformats.org/drawingml/2006/main">
              <a:ext uri="{FF2B5EF4-FFF2-40B4-BE49-F238E27FC236}">
                <a16:creationId xmlns:a16="http://schemas.microsoft.com/office/drawing/2014/main" id="{A7C33C71-C8D3-48C3-A309-9C24A083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38350"/>
            <a:ext cx="523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5FB3A5"/>
                </a:solidFill>
              </a:defRPr>
            </a:pPr>
            <a:r>
              <a:rPr sz="4200" b="1">
                <a:solidFill>
                  <a:srgbClr val="5FB3A5"/>
                </a:solidFill>
              </a:rPr>
              <a:t>星图叙事</a:t>
            </a:r>
          </a:p>
        </p:txBody>
      </p:sp>
      <p:sp>
        <p:nvSpPr>
          <p:cNvPr id="9" name="metric-label-500 个古建筑样本组织">
            <a:extLst xmlns:a="http://schemas.openxmlformats.org/drawingml/2006/main">
              <a:ext uri="{FF2B5EF4-FFF2-40B4-BE49-F238E27FC236}">
                <a16:creationId xmlns:a16="http://schemas.microsoft.com/office/drawing/2014/main" id="{45ACA902-F0F0-4D48-9BE9-9E1834E5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500 个古建筑样本组织</a:t>
            </a:r>
          </a:p>
        </p:txBody>
      </p:sp>
      <p:sp>
        <p:nvSpPr>
          <p:cNvPr id="10" name="metric-value-上下文问答与联动推荐">
            <a:extLst xmlns:a="http://schemas.openxmlformats.org/drawingml/2006/main">
              <a:ext uri="{FF2B5EF4-FFF2-40B4-BE49-F238E27FC236}">
                <a16:creationId xmlns:a16="http://schemas.microsoft.com/office/drawing/2014/main" id="{1459260C-3DD9-4252-80FF-951B9BA7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038350"/>
            <a:ext cx="523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84631"/>
                </a:solidFill>
              </a:defRPr>
            </a:pPr>
            <a:r>
              <a:rPr sz="4200" b="1">
                <a:solidFill>
                  <a:srgbClr val="B84631"/>
                </a:solidFill>
              </a:rPr>
              <a:t>AI 导师</a:t>
            </a:r>
          </a:p>
        </p:txBody>
      </p:sp>
      <p:sp>
        <p:nvSpPr>
          <p:cNvPr id="11" name="metric-label-上下文问答与联动推荐">
            <a:extLst xmlns:a="http://schemas.openxmlformats.org/drawingml/2006/main">
              <a:ext uri="{FF2B5EF4-FFF2-40B4-BE49-F238E27FC236}">
                <a16:creationId xmlns:a16="http://schemas.microsoft.com/office/drawing/2014/main" id="{7CCAFF3D-39CC-415A-BDF4-017CF86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64795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上下文问答与联动推荐</a:t>
            </a:r>
          </a:p>
        </p:txBody>
      </p:sp>
      <p:sp>
        <p:nvSpPr>
          <p:cNvPr id="12" name="metric-value-多因子相似度检索">
            <a:extLst xmlns:a="http://schemas.openxmlformats.org/drawingml/2006/main">
              <a:ext uri="{FF2B5EF4-FFF2-40B4-BE49-F238E27FC236}">
                <a16:creationId xmlns:a16="http://schemas.microsoft.com/office/drawing/2014/main" id="{155D26CB-E48D-440F-AA6C-C2179497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81700"/>
            <a:ext cx="523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2D28C"/>
                </a:solidFill>
              </a:defRPr>
            </a:pPr>
            <a:r>
              <a:rPr sz="4200" b="1">
                <a:solidFill>
                  <a:srgbClr val="F2D28C"/>
                </a:solidFill>
              </a:rPr>
              <a:t>智能荐览</a:t>
            </a:r>
          </a:p>
        </p:txBody>
      </p:sp>
      <p:sp>
        <p:nvSpPr>
          <p:cNvPr id="13" name="metric-label-多因子相似度检索">
            <a:extLst xmlns:a="http://schemas.openxmlformats.org/drawingml/2006/main">
              <a:ext uri="{FF2B5EF4-FFF2-40B4-BE49-F238E27FC236}">
                <a16:creationId xmlns:a16="http://schemas.microsoft.com/office/drawing/2014/main" id="{FBCBB2EC-0BBF-4355-9E60-3E0C2C85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多因子相似度检索</a:t>
            </a:r>
          </a:p>
        </p:txBody>
      </p:sp>
      <p:sp>
        <p:nvSpPr>
          <p:cNvPr id="14" name="metric-value-移动端真实空间投放">
            <a:extLst xmlns:a="http://schemas.openxmlformats.org/drawingml/2006/main">
              <a:ext uri="{FF2B5EF4-FFF2-40B4-BE49-F238E27FC236}">
                <a16:creationId xmlns:a16="http://schemas.microsoft.com/office/drawing/2014/main" id="{1B506178-D4A4-4775-A1F1-8FDD1DBE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981700"/>
            <a:ext cx="523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5FB3A5"/>
                </a:solidFill>
              </a:defRPr>
            </a:pPr>
            <a:r>
              <a:rPr sz="4200" b="1">
                <a:solidFill>
                  <a:srgbClr val="5FB3A5"/>
                </a:solidFill>
              </a:rPr>
              <a:t>Web AR</a:t>
            </a:r>
          </a:p>
        </p:txBody>
      </p:sp>
      <p:sp>
        <p:nvSpPr>
          <p:cNvPr id="15" name="metric-label-移动端真实空间投放">
            <a:extLst xmlns:a="http://schemas.openxmlformats.org/drawingml/2006/main">
              <a:ext uri="{FF2B5EF4-FFF2-40B4-BE49-F238E27FC236}">
                <a16:creationId xmlns:a16="http://schemas.microsoft.com/office/drawing/2014/main" id="{7EAB9C14-7E8C-4C12-A3D8-7BDE5D81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59130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移动端真实空间投放</a:t>
            </a:r>
          </a:p>
        </p:txBody>
      </p:sp>
      <p:sp>
        <p:nvSpPr>
          <p:cNvPr id="16" name="metric-value-Windows 安装包交付">
            <a:extLst xmlns:a="http://schemas.openxmlformats.org/drawingml/2006/main">
              <a:ext uri="{FF2B5EF4-FFF2-40B4-BE49-F238E27FC236}">
                <a16:creationId xmlns:a16="http://schemas.microsoft.com/office/drawing/2014/main" id="{6EFE0A22-BE58-4776-8BF8-F23EC49D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981700"/>
            <a:ext cx="5238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84631"/>
                </a:solidFill>
              </a:defRPr>
            </a:pPr>
            <a:r>
              <a:rPr sz="4200" b="1">
                <a:solidFill>
                  <a:srgbClr val="B84631"/>
                </a:solidFill>
              </a:rPr>
              <a:t>Electron</a:t>
            </a:r>
          </a:p>
        </p:txBody>
      </p:sp>
      <p:sp>
        <p:nvSpPr>
          <p:cNvPr id="17" name="metric-label-Windows 安装包交付">
            <a:extLst xmlns:a="http://schemas.openxmlformats.org/drawingml/2006/main">
              <a:ext uri="{FF2B5EF4-FFF2-40B4-BE49-F238E27FC236}">
                <a16:creationId xmlns:a16="http://schemas.microsoft.com/office/drawing/2014/main" id="{EB925A8D-AB22-4D1A-9490-1F1FE8F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591300"/>
            <a:ext cx="523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Windows 安装包交付</a:t>
            </a:r>
          </a:p>
        </p:txBody>
      </p:sp>
    </p:spTree>
    <p:extLst>
      <p:ext uri="{BB962C8B-B14F-4D97-AF65-F5344CB8AC3E}">
        <p14:creationId xmlns:p14="http://schemas.microsoft.com/office/powerpoint/2010/main" val="1259224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A72DEDC-2635-414F-A5EE-3AB73A8D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F11E8C39-D003-4581-A3E9-42C9C51A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F5DB2B-E7BF-4D9F-9737-6EE0E89C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"/>
            <a:ext cx="1028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E2D4"/>
                </a:solidFill>
              </a:defRPr>
            </a:pPr>
            <a:r>
              <a:rPr sz="4050" b="1">
                <a:solidFill>
                  <a:srgbClr val="EAE2D4"/>
                </a:solidFill>
              </a:rPr>
              <a:t>技术架构：内容、交互、智能、交付四层闭环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CA76439-63F8-4738-8DAA-E5F584D7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6819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FA79A"/>
                </a:solidFill>
              </a:defRPr>
            </a:pPr>
            <a:r>
              <a:rPr sz="1800">
                <a:solidFill>
                  <a:srgbClr val="AFA79A"/>
                </a:solidFill>
              </a:rPr>
              <a:t>所有技术点围绕“让古建知识更容易被理解”组织，而不是堆栈罗列。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DDEF442E-C253-410C-8BC8-D8D28CC4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1430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659"/>
                </a:solidFill>
              </a:defRPr>
            </a:pPr>
            <a:r>
              <a:rPr sz="1350" b="1">
                <a:solidFill>
                  <a:srgbClr val="6F6659"/>
                </a:solidFill>
              </a:rPr>
              <a:t>04</a:t>
            </a:r>
          </a:p>
        </p:txBody>
      </p:sp>
      <p:sp>
        <p:nvSpPr>
          <p:cNvPr id="6" name="chip-内容层">
            <a:extLst xmlns:a="http://schemas.openxmlformats.org/drawingml/2006/main">
              <a:ext uri="{FF2B5EF4-FFF2-40B4-BE49-F238E27FC236}">
                <a16:creationId xmlns:a16="http://schemas.microsoft.com/office/drawing/2014/main" id="{5B48ED45-50A4-4472-91E7-54719C59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1181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832C7-96DD-4123-8F5A-38087AAF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内容层</a:t>
            </a:r>
          </a:p>
        </p:txBody>
      </p:sp>
      <p:sp>
        <p:nvSpPr>
          <p:cNvPr id="8" name="layer1-text">
            <a:extLst xmlns:a="http://schemas.openxmlformats.org/drawingml/2006/main">
              <a:ext uri="{FF2B5EF4-FFF2-40B4-BE49-F238E27FC236}">
                <a16:creationId xmlns:a16="http://schemas.microsoft.com/office/drawing/2014/main" id="{8E144BCB-1F38-43B9-A977-2A3FC428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1485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AE2D4"/>
                </a:solidFill>
              </a:defRPr>
            </a:pPr>
            <a:r>
              <a:rPr sz="2550">
                <a:solidFill>
                  <a:srgbClr val="EAE2D4"/>
                </a:solidFill>
              </a:rPr>
              <a:t>斗拱、桥梁、宫殿、民居、建筑史、AR 体验</a:t>
            </a:r>
          </a:p>
        </p:txBody>
      </p:sp>
      <p:sp>
        <p:nvSpPr>
          <p:cNvPr id="9" name="arch-rule-1">
            <a:extLst xmlns:a="http://schemas.openxmlformats.org/drawingml/2006/main">
              <a:ext uri="{FF2B5EF4-FFF2-40B4-BE49-F238E27FC236}">
                <a16:creationId xmlns:a16="http://schemas.microsoft.com/office/drawing/2014/main" id="{FA949991-F4E3-4332-8C69-8FF9C599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163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52D"/>
          </a:solidFill>
          <a:ln xmlns:a="http://schemas.openxmlformats.org/drawingml/2006/main" w="0">
            <a:solidFill>
              <a:srgbClr val="54452D"/>
            </a:solidFill>
            <a:prstDash val="solid"/>
          </a:ln>
        </p:spPr>
      </p:sp>
      <p:sp>
        <p:nvSpPr>
          <p:cNvPr id="10" name="chip-交互层">
            <a:extLst xmlns:a="http://schemas.openxmlformats.org/drawingml/2006/main">
              <a:ext uri="{FF2B5EF4-FFF2-40B4-BE49-F238E27FC236}">
                <a16:creationId xmlns:a16="http://schemas.microsoft.com/office/drawing/2014/main" id="{EE8D89B7-AB7A-40CD-B011-CDDEC42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181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B3A5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675D9-9F99-4F32-9DE5-03CC7DDD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交互层</a:t>
            </a:r>
          </a:p>
        </p:txBody>
      </p:sp>
      <p:sp>
        <p:nvSpPr>
          <p:cNvPr id="12" name="layer2-text">
            <a:extLst xmlns:a="http://schemas.openxmlformats.org/drawingml/2006/main">
              <a:ext uri="{FF2B5EF4-FFF2-40B4-BE49-F238E27FC236}">
                <a16:creationId xmlns:a16="http://schemas.microsoft.com/office/drawing/2014/main" id="{1A7212AF-9ACB-4023-AA57-E68D30A0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00600"/>
            <a:ext cx="1485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AE2D4"/>
                </a:solidFill>
              </a:defRPr>
            </a:pPr>
            <a:r>
              <a:rPr sz="2550">
                <a:solidFill>
                  <a:srgbClr val="EAE2D4"/>
                </a:solidFill>
              </a:rPr>
              <a:t>旋转、拆解、聚焦、筛选、跳转、错误边界保护</a:t>
            </a:r>
          </a:p>
        </p:txBody>
      </p:sp>
      <p:sp>
        <p:nvSpPr>
          <p:cNvPr id="13" name="arch-rule-2">
            <a:extLst xmlns:a="http://schemas.openxmlformats.org/drawingml/2006/main">
              <a:ext uri="{FF2B5EF4-FFF2-40B4-BE49-F238E27FC236}">
                <a16:creationId xmlns:a16="http://schemas.microsoft.com/office/drawing/2014/main" id="{C2984B5B-4948-4117-B6D7-C388FAFF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67400"/>
            <a:ext cx="163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52D"/>
          </a:solidFill>
          <a:ln xmlns:a="http://schemas.openxmlformats.org/drawingml/2006/main" w="0">
            <a:solidFill>
              <a:srgbClr val="54452D"/>
            </a:solidFill>
            <a:prstDash val="solid"/>
          </a:ln>
        </p:spPr>
      </p:sp>
      <p:sp>
        <p:nvSpPr>
          <p:cNvPr id="14" name="chip-智能层">
            <a:extLst xmlns:a="http://schemas.openxmlformats.org/drawingml/2006/main">
              <a:ext uri="{FF2B5EF4-FFF2-40B4-BE49-F238E27FC236}">
                <a16:creationId xmlns:a16="http://schemas.microsoft.com/office/drawing/2014/main" id="{BB3B4176-67C1-4700-A4D9-ACFB3918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67500"/>
            <a:ext cx="1181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631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D4CE2-7B7A-46E7-9508-E20B01F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0085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智能层</a:t>
            </a:r>
          </a:p>
        </p:txBody>
      </p:sp>
      <p:sp>
        <p:nvSpPr>
          <p:cNvPr id="16" name="layer3-text">
            <a:extLst xmlns:a="http://schemas.openxmlformats.org/drawingml/2006/main">
              <a:ext uri="{FF2B5EF4-FFF2-40B4-BE49-F238E27FC236}">
                <a16:creationId xmlns:a16="http://schemas.microsoft.com/office/drawing/2014/main" id="{9BCDFF18-51DA-4954-8D88-E7D14EF2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743700"/>
            <a:ext cx="1485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AE2D4"/>
                </a:solidFill>
              </a:defRPr>
            </a:pPr>
            <a:r>
              <a:rPr sz="2550">
                <a:solidFill>
                  <a:srgbClr val="EAE2D4"/>
                </a:solidFill>
              </a:rPr>
              <a:t>AI 问答、多因子相似度、页面上下文、推荐解释</a:t>
            </a:r>
          </a:p>
        </p:txBody>
      </p:sp>
      <p:sp>
        <p:nvSpPr>
          <p:cNvPr id="17" name="arch-rule-3">
            <a:extLst xmlns:a="http://schemas.openxmlformats.org/drawingml/2006/main">
              <a:ext uri="{FF2B5EF4-FFF2-40B4-BE49-F238E27FC236}">
                <a16:creationId xmlns:a16="http://schemas.microsoft.com/office/drawing/2014/main" id="{9553D2E9-2F82-4037-ABF6-8DCC7359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0"/>
            <a:ext cx="1630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52D"/>
          </a:solidFill>
          <a:ln xmlns:a="http://schemas.openxmlformats.org/drawingml/2006/main" w="0">
            <a:solidFill>
              <a:srgbClr val="54452D"/>
            </a:solidFill>
            <a:prstDash val="solid"/>
          </a:ln>
        </p:spPr>
      </p:sp>
      <p:sp>
        <p:nvSpPr>
          <p:cNvPr id="18" name="chip-交付层">
            <a:extLst xmlns:a="http://schemas.openxmlformats.org/drawingml/2006/main">
              <a:ext uri="{FF2B5EF4-FFF2-40B4-BE49-F238E27FC236}">
                <a16:creationId xmlns:a16="http://schemas.microsoft.com/office/drawing/2014/main" id="{B9294F9F-AE56-4667-9283-421CA6FF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610600"/>
            <a:ext cx="11811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CFB51-90FB-4DF0-A36C-5BC37557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685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交付层</a:t>
            </a:r>
          </a:p>
        </p:txBody>
      </p:sp>
      <p:sp>
        <p:nvSpPr>
          <p:cNvPr id="20" name="layer4-text">
            <a:extLst xmlns:a="http://schemas.openxmlformats.org/drawingml/2006/main">
              <a:ext uri="{FF2B5EF4-FFF2-40B4-BE49-F238E27FC236}">
                <a16:creationId xmlns:a16="http://schemas.microsoft.com/office/drawing/2014/main" id="{A9465EE4-B572-4F29-8C36-E47303B4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686800"/>
            <a:ext cx="1485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EAE2D4"/>
                </a:solidFill>
              </a:defRPr>
            </a:pPr>
            <a:r>
              <a:rPr sz="2550">
                <a:solidFill>
                  <a:srgbClr val="EAE2D4"/>
                </a:solidFill>
              </a:rPr>
              <a:t>Vite Web、移动端 AR、Electron 桌面安装包</a:t>
            </a:r>
          </a:p>
        </p:txBody>
      </p:sp>
    </p:spTree>
    <p:extLst>
      <p:ext uri="{BB962C8B-B14F-4D97-AF65-F5344CB8AC3E}">
        <p14:creationId xmlns:p14="http://schemas.microsoft.com/office/powerpoint/2010/main" val="9803487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16C26F15-72D7-4BD9-A9C4-069E98D8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3289E45C-F281-488A-A9F3-952DA04C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00102F-81C7-4AD1-A087-5BA4417C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"/>
            <a:ext cx="874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E2D4"/>
                </a:solidFill>
              </a:defRPr>
            </a:pPr>
            <a:r>
              <a:rPr sz="4050" b="1">
                <a:solidFill>
                  <a:srgbClr val="EAE2D4"/>
                </a:solidFill>
              </a:rPr>
              <a:t>现场演示建议：三分钟抓住评委注意力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B20197B-AF8F-4D68-AC1E-2A195FB8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594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FA79A"/>
                </a:solidFill>
              </a:defRPr>
            </a:pPr>
            <a:r>
              <a:rPr sz="1800">
                <a:solidFill>
                  <a:srgbClr val="AFA79A"/>
                </a:solidFill>
              </a:rPr>
              <a:t>先展示最直观的三维，再展示系统深度，最后落到可交付。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166A9651-5305-4998-99E6-FD8F82259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0287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659"/>
                </a:solidFill>
              </a:defRPr>
            </a:pPr>
            <a:r>
              <a:rPr sz="1350" b="1">
                <a:solidFill>
                  <a:srgbClr val="6F6659"/>
                </a:solidFill>
              </a:rPr>
              <a:t>05</a:t>
            </a:r>
          </a:p>
        </p:txBody>
      </p:sp>
      <p:sp>
        <p:nvSpPr>
          <p:cNvPr id="6" name="demo-no-1">
            <a:extLst xmlns:a="http://schemas.openxmlformats.org/drawingml/2006/main">
              <a:ext uri="{FF2B5EF4-FFF2-40B4-BE49-F238E27FC236}">
                <a16:creationId xmlns:a16="http://schemas.microsoft.com/office/drawing/2014/main" id="{ACF73B18-EBFE-4056-9EC0-BAF78B08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742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D8A84E"/>
                </a:solidFill>
              </a:defRPr>
            </a:pPr>
            <a:r>
              <a:rPr sz="5700" b="1">
                <a:solidFill>
                  <a:srgbClr val="D8A84E"/>
                </a:solidFill>
              </a:rPr>
              <a:t>01</a:t>
            </a:r>
          </a:p>
        </p:txBody>
      </p:sp>
      <p:sp>
        <p:nvSpPr>
          <p:cNvPr id="7" name="demo-title-1">
            <a:extLst xmlns:a="http://schemas.openxmlformats.org/drawingml/2006/main">
              <a:ext uri="{FF2B5EF4-FFF2-40B4-BE49-F238E27FC236}">
                <a16:creationId xmlns:a16="http://schemas.microsoft.com/office/drawing/2014/main" id="{8F3B0FC7-D865-4CF3-8673-45F6BC01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10300"/>
            <a:ext cx="5162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E2D4"/>
                </a:solidFill>
              </a:defRPr>
            </a:pPr>
            <a:r>
              <a:rPr sz="3450" b="1">
                <a:solidFill>
                  <a:srgbClr val="EAE2D4"/>
                </a:solidFill>
              </a:rPr>
              <a:t>斗拱拆解</a:t>
            </a:r>
          </a:p>
        </p:txBody>
      </p:sp>
      <p:sp>
        <p:nvSpPr>
          <p:cNvPr id="8" name="demo-copy-1">
            <a:extLst xmlns:a="http://schemas.openxmlformats.org/drawingml/2006/main">
              <a:ext uri="{FF2B5EF4-FFF2-40B4-BE49-F238E27FC236}">
                <a16:creationId xmlns:a16="http://schemas.microsoft.com/office/drawing/2014/main" id="{2872FD97-AE08-46CD-B4CD-037B4DE2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19900"/>
            <a:ext cx="405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AFA79A"/>
                </a:solidFill>
              </a:defRPr>
            </a:pPr>
            <a:r>
              <a:rPr sz="1875">
                <a:solidFill>
                  <a:srgbClr val="AFA79A"/>
                </a:solidFill>
              </a:rPr>
              <a:t>用分层、环形、复原展示结构认知价值</a:t>
            </a:r>
          </a:p>
        </p:txBody>
      </p:sp>
      <p:sp>
        <p:nvSpPr>
          <p:cNvPr id="9" name="demo-no-2">
            <a:extLst xmlns:a="http://schemas.openxmlformats.org/drawingml/2006/main">
              <a:ext uri="{FF2B5EF4-FFF2-40B4-BE49-F238E27FC236}">
                <a16:creationId xmlns:a16="http://schemas.microsoft.com/office/drawing/2014/main" id="{F5E4248D-D31C-4787-ADCE-5D763AED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1050"/>
            <a:ext cx="742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5FB3A5"/>
                </a:solidFill>
              </a:defRPr>
            </a:pPr>
            <a:r>
              <a:rPr sz="5700" b="1">
                <a:solidFill>
                  <a:srgbClr val="5FB3A5"/>
                </a:solidFill>
              </a:rPr>
              <a:t>02</a:t>
            </a:r>
          </a:p>
        </p:txBody>
      </p:sp>
      <p:sp>
        <p:nvSpPr>
          <p:cNvPr id="10" name="demo-title-2">
            <a:extLst xmlns:a="http://schemas.openxmlformats.org/drawingml/2006/main">
              <a:ext uri="{FF2B5EF4-FFF2-40B4-BE49-F238E27FC236}">
                <a16:creationId xmlns:a16="http://schemas.microsoft.com/office/drawing/2014/main" id="{F64DF3C2-B595-4A13-B3CD-A4D61457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210300"/>
            <a:ext cx="5162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E2D4"/>
                </a:solidFill>
              </a:defRPr>
            </a:pPr>
            <a:r>
              <a:rPr sz="3450" b="1">
                <a:solidFill>
                  <a:srgbClr val="EAE2D4"/>
                </a:solidFill>
              </a:rPr>
              <a:t>星图 + AI</a:t>
            </a:r>
          </a:p>
        </p:txBody>
      </p:sp>
      <p:sp>
        <p:nvSpPr>
          <p:cNvPr id="11" name="demo-copy-2">
            <a:extLst xmlns:a="http://schemas.openxmlformats.org/drawingml/2006/main">
              <a:ext uri="{FF2B5EF4-FFF2-40B4-BE49-F238E27FC236}">
                <a16:creationId xmlns:a16="http://schemas.microsoft.com/office/drawing/2014/main" id="{0879DC2B-E3DA-433B-823F-6B8480BE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6819900"/>
            <a:ext cx="405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AFA79A"/>
                </a:solidFill>
              </a:defRPr>
            </a:pPr>
            <a:r>
              <a:rPr sz="1875">
                <a:solidFill>
                  <a:srgbClr val="AFA79A"/>
                </a:solidFill>
              </a:rPr>
              <a:t>从建筑史节点进入智能讲解与模块联动</a:t>
            </a:r>
          </a:p>
        </p:txBody>
      </p:sp>
      <p:sp>
        <p:nvSpPr>
          <p:cNvPr id="12" name="demo-no-3">
            <a:extLst xmlns:a="http://schemas.openxmlformats.org/drawingml/2006/main">
              <a:ext uri="{FF2B5EF4-FFF2-40B4-BE49-F238E27FC236}">
                <a16:creationId xmlns:a16="http://schemas.microsoft.com/office/drawing/2014/main" id="{B34F1F5B-F90B-4901-863D-E9BA2723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476750"/>
            <a:ext cx="742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B84631"/>
                </a:solidFill>
              </a:defRPr>
            </a:pPr>
            <a:r>
              <a:rPr sz="5700" b="1">
                <a:solidFill>
                  <a:srgbClr val="B84631"/>
                </a:solidFill>
              </a:rPr>
              <a:t>03</a:t>
            </a:r>
          </a:p>
        </p:txBody>
      </p:sp>
      <p:sp>
        <p:nvSpPr>
          <p:cNvPr id="13" name="demo-title-3">
            <a:extLst xmlns:a="http://schemas.openxmlformats.org/drawingml/2006/main">
              <a:ext uri="{FF2B5EF4-FFF2-40B4-BE49-F238E27FC236}">
                <a16:creationId xmlns:a16="http://schemas.microsoft.com/office/drawing/2014/main" id="{9331BE89-7EDC-4ED8-9F46-BC2DB305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096000"/>
            <a:ext cx="5162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AE2D4"/>
                </a:solidFill>
              </a:defRPr>
            </a:pPr>
            <a:r>
              <a:rPr sz="3450" b="1">
                <a:solidFill>
                  <a:srgbClr val="EAE2D4"/>
                </a:solidFill>
              </a:rPr>
              <a:t>AR / 桌面端</a:t>
            </a:r>
          </a:p>
        </p:txBody>
      </p:sp>
      <p:sp>
        <p:nvSpPr>
          <p:cNvPr id="14" name="demo-copy-3">
            <a:extLst xmlns:a="http://schemas.openxmlformats.org/drawingml/2006/main">
              <a:ext uri="{FF2B5EF4-FFF2-40B4-BE49-F238E27FC236}">
                <a16:creationId xmlns:a16="http://schemas.microsoft.com/office/drawing/2014/main" id="{AC826B21-4E0A-4D75-BC6B-77189966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6705600"/>
            <a:ext cx="4057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AFA79A"/>
                </a:solidFill>
              </a:defRPr>
            </a:pPr>
            <a:r>
              <a:rPr sz="1875">
                <a:solidFill>
                  <a:srgbClr val="AFA79A"/>
                </a:solidFill>
              </a:rPr>
              <a:t>说明作品不是网页样机，而是可部署成果</a:t>
            </a:r>
          </a:p>
        </p:txBody>
      </p:sp>
    </p:spTree>
    <p:extLst>
      <p:ext uri="{BB962C8B-B14F-4D97-AF65-F5344CB8AC3E}">
        <p14:creationId xmlns:p14="http://schemas.microsoft.com/office/powerpoint/2010/main" val="42137556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351C7BF-160D-446E-9027-B53688AB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1FEEC470-AE26-47BB-B3C9-227D2D01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12F4E6-9735-4E37-A414-19F136980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"/>
            <a:ext cx="96964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E2D4"/>
                </a:solidFill>
              </a:defRPr>
            </a:pPr>
            <a:r>
              <a:rPr sz="4050" b="1">
                <a:solidFill>
                  <a:srgbClr val="EAE2D4"/>
                </a:solidFill>
              </a:rPr>
              <a:t>创新点不是“用了很多技术”，而是形成合力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2E705DD-18FB-41D8-B948-B21754A4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114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FA79A"/>
                </a:solidFill>
              </a:defRPr>
            </a:pPr>
            <a:r>
              <a:rPr sz="1800">
                <a:solidFill>
                  <a:srgbClr val="AFA79A"/>
                </a:solidFill>
              </a:rPr>
              <a:t>每个技术点都对应一个清晰的认知目标。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BCE22B50-EDA7-4723-84CC-1AAAC642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2954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659"/>
                </a:solidFill>
              </a:defRPr>
            </a:pPr>
            <a:r>
              <a:rPr sz="1350" b="1">
                <a:solidFill>
                  <a:srgbClr val="6F6659"/>
                </a:solidFill>
              </a:rPr>
              <a:t>06</a:t>
            </a:r>
          </a:p>
        </p:txBody>
      </p:sp>
      <p:sp>
        <p:nvSpPr>
          <p:cNvPr id="6" name="metric-value-把结构知识变成可操作过程">
            <a:extLst xmlns:a="http://schemas.openxmlformats.org/drawingml/2006/main">
              <a:ext uri="{FF2B5EF4-FFF2-40B4-BE49-F238E27FC236}">
                <a16:creationId xmlns:a16="http://schemas.microsoft.com/office/drawing/2014/main" id="{26B7E970-3834-4BF8-BD34-23D1CBE0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5219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8A84E"/>
                </a:solidFill>
              </a:defRPr>
            </a:pPr>
            <a:r>
              <a:rPr sz="4200" b="1">
                <a:solidFill>
                  <a:srgbClr val="D8A84E"/>
                </a:solidFill>
              </a:rPr>
              <a:t>三维拆解</a:t>
            </a:r>
          </a:p>
        </p:txBody>
      </p:sp>
      <p:sp>
        <p:nvSpPr>
          <p:cNvPr id="7" name="metric-label-把结构知识变成可操作过程">
            <a:extLst xmlns:a="http://schemas.openxmlformats.org/drawingml/2006/main">
              <a:ext uri="{FF2B5EF4-FFF2-40B4-BE49-F238E27FC236}">
                <a16:creationId xmlns:a16="http://schemas.microsoft.com/office/drawing/2014/main" id="{DA2AF722-1A19-46B2-BB8B-044D4F74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把结构知识变成可操作过程</a:t>
            </a:r>
          </a:p>
        </p:txBody>
      </p:sp>
      <p:sp>
        <p:nvSpPr>
          <p:cNvPr id="8" name="metric-value-把历史脉络变成可探索空间">
            <a:extLst xmlns:a="http://schemas.openxmlformats.org/drawingml/2006/main">
              <a:ext uri="{FF2B5EF4-FFF2-40B4-BE49-F238E27FC236}">
                <a16:creationId xmlns:a16="http://schemas.microsoft.com/office/drawing/2014/main" id="{17E2B66C-4387-4470-A330-3ABBE89E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33650"/>
            <a:ext cx="5219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5FB3A5"/>
                </a:solidFill>
              </a:defRPr>
            </a:pPr>
            <a:r>
              <a:rPr sz="4200" b="1">
                <a:solidFill>
                  <a:srgbClr val="5FB3A5"/>
                </a:solidFill>
              </a:rPr>
              <a:t>建筑星图</a:t>
            </a:r>
          </a:p>
        </p:txBody>
      </p:sp>
      <p:sp>
        <p:nvSpPr>
          <p:cNvPr id="9" name="metric-label-把历史脉络变成可探索空间">
            <a:extLst xmlns:a="http://schemas.openxmlformats.org/drawingml/2006/main">
              <a:ext uri="{FF2B5EF4-FFF2-40B4-BE49-F238E27FC236}">
                <a16:creationId xmlns:a16="http://schemas.microsoft.com/office/drawing/2014/main" id="{110626B2-DFA0-4A53-A2E8-BA4D7BED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把历史脉络变成可探索空间</a:t>
            </a:r>
          </a:p>
        </p:txBody>
      </p:sp>
      <p:sp>
        <p:nvSpPr>
          <p:cNvPr id="10" name="metric-value-把资料检索变成智能讲解">
            <a:extLst xmlns:a="http://schemas.openxmlformats.org/drawingml/2006/main">
              <a:ext uri="{FF2B5EF4-FFF2-40B4-BE49-F238E27FC236}">
                <a16:creationId xmlns:a16="http://schemas.microsoft.com/office/drawing/2014/main" id="{C791659C-40B1-4843-98A3-04E903C2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533650"/>
            <a:ext cx="5219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84631"/>
                </a:solidFill>
              </a:defRPr>
            </a:pPr>
            <a:r>
              <a:rPr sz="4200" b="1">
                <a:solidFill>
                  <a:srgbClr val="B84631"/>
                </a:solidFill>
              </a:rPr>
              <a:t>AI 导师</a:t>
            </a:r>
          </a:p>
        </p:txBody>
      </p:sp>
      <p:sp>
        <p:nvSpPr>
          <p:cNvPr id="11" name="metric-label-把资料检索变成智能讲解">
            <a:extLst xmlns:a="http://schemas.openxmlformats.org/drawingml/2006/main">
              <a:ext uri="{FF2B5EF4-FFF2-40B4-BE49-F238E27FC236}">
                <a16:creationId xmlns:a16="http://schemas.microsoft.com/office/drawing/2014/main" id="{F2926BC7-F536-4C2E-A63E-57CF511F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31432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把资料检索变成智能讲解</a:t>
            </a:r>
          </a:p>
        </p:txBody>
      </p:sp>
      <p:sp>
        <p:nvSpPr>
          <p:cNvPr id="12" name="metric-value-把相似关系变成可解释推荐">
            <a:extLst xmlns:a="http://schemas.openxmlformats.org/drawingml/2006/main">
              <a:ext uri="{FF2B5EF4-FFF2-40B4-BE49-F238E27FC236}">
                <a16:creationId xmlns:a16="http://schemas.microsoft.com/office/drawing/2014/main" id="{AA2921E3-A273-4668-8A33-E5295612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29350"/>
            <a:ext cx="5219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2D28C"/>
                </a:solidFill>
              </a:defRPr>
            </a:pPr>
            <a:r>
              <a:rPr sz="4200" b="1">
                <a:solidFill>
                  <a:srgbClr val="F2D28C"/>
                </a:solidFill>
              </a:rPr>
              <a:t>多因子算法</a:t>
            </a:r>
          </a:p>
        </p:txBody>
      </p:sp>
      <p:sp>
        <p:nvSpPr>
          <p:cNvPr id="13" name="metric-label-把相似关系变成可解释推荐">
            <a:extLst xmlns:a="http://schemas.openxmlformats.org/drawingml/2006/main">
              <a:ext uri="{FF2B5EF4-FFF2-40B4-BE49-F238E27FC236}">
                <a16:creationId xmlns:a16="http://schemas.microsoft.com/office/drawing/2014/main" id="{5BEEDDB4-8200-482B-A927-AF4A8F1A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389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把相似关系变成可解释推荐</a:t>
            </a:r>
          </a:p>
        </p:txBody>
      </p:sp>
      <p:sp>
        <p:nvSpPr>
          <p:cNvPr id="14" name="metric-value-把屏幕内容延伸到真实空间">
            <a:extLst xmlns:a="http://schemas.openxmlformats.org/drawingml/2006/main">
              <a:ext uri="{FF2B5EF4-FFF2-40B4-BE49-F238E27FC236}">
                <a16:creationId xmlns:a16="http://schemas.microsoft.com/office/drawing/2014/main" id="{4A9D7610-F195-46AE-B6BD-0132EDD8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229350"/>
            <a:ext cx="5219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5FB3A5"/>
                </a:solidFill>
              </a:defRPr>
            </a:pPr>
            <a:r>
              <a:rPr sz="4200" b="1">
                <a:solidFill>
                  <a:srgbClr val="5FB3A5"/>
                </a:solidFill>
              </a:rPr>
              <a:t>AR 沉浸</a:t>
            </a:r>
          </a:p>
        </p:txBody>
      </p:sp>
      <p:sp>
        <p:nvSpPr>
          <p:cNvPr id="15" name="metric-label-把屏幕内容延伸到真实空间">
            <a:extLst xmlns:a="http://schemas.openxmlformats.org/drawingml/2006/main">
              <a:ext uri="{FF2B5EF4-FFF2-40B4-BE49-F238E27FC236}">
                <a16:creationId xmlns:a16="http://schemas.microsoft.com/office/drawing/2014/main" id="{5B261DDD-2FA2-4B17-97CF-92A94820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8389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把屏幕内容延伸到真实空间</a:t>
            </a:r>
          </a:p>
        </p:txBody>
      </p:sp>
      <p:sp>
        <p:nvSpPr>
          <p:cNvPr id="16" name="metric-value-把作品从演示变成可安装应用">
            <a:extLst xmlns:a="http://schemas.openxmlformats.org/drawingml/2006/main">
              <a:ext uri="{FF2B5EF4-FFF2-40B4-BE49-F238E27FC236}">
                <a16:creationId xmlns:a16="http://schemas.microsoft.com/office/drawing/2014/main" id="{D91888BA-4439-4A24-89CA-93303067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229350"/>
            <a:ext cx="52197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84631"/>
                </a:solidFill>
              </a:defRPr>
            </a:pPr>
            <a:r>
              <a:rPr sz="4200" b="1">
                <a:solidFill>
                  <a:srgbClr val="B84631"/>
                </a:solidFill>
              </a:rPr>
              <a:t>桌面交付</a:t>
            </a:r>
          </a:p>
        </p:txBody>
      </p:sp>
      <p:sp>
        <p:nvSpPr>
          <p:cNvPr id="17" name="metric-label-把作品从演示变成可安装应用">
            <a:extLst xmlns:a="http://schemas.openxmlformats.org/drawingml/2006/main">
              <a:ext uri="{FF2B5EF4-FFF2-40B4-BE49-F238E27FC236}">
                <a16:creationId xmlns:a16="http://schemas.microsoft.com/office/drawing/2014/main" id="{92D41700-7F43-4974-A6A7-E73141E3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838950"/>
            <a:ext cx="521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把作品从演示变成可安装应用</a:t>
            </a:r>
          </a:p>
        </p:txBody>
      </p:sp>
    </p:spTree>
    <p:extLst>
      <p:ext uri="{BB962C8B-B14F-4D97-AF65-F5344CB8AC3E}">
        <p14:creationId xmlns:p14="http://schemas.microsoft.com/office/powerpoint/2010/main" val="24531388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AB6D9125-FC02-4E42-89B9-9CB4249E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82FB2B0B-4E65-48A8-B4E0-5FF0EB21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CC4E21-A94D-4DC4-AF06-D8B7ACF2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"/>
            <a:ext cx="82296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E2D4"/>
                </a:solidFill>
              </a:defRPr>
            </a:pPr>
            <a:r>
              <a:rPr sz="4050" b="1">
                <a:solidFill>
                  <a:srgbClr val="EAE2D4"/>
                </a:solidFill>
              </a:rPr>
              <a:t>智能荐览：把古建筑变成可计算对象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990715F-3408-4F8E-8165-8E0B5399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5486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FA79A"/>
                </a:solidFill>
              </a:defRPr>
            </a:pPr>
            <a:r>
              <a:rPr sz="1800">
                <a:solidFill>
                  <a:srgbClr val="AFA79A"/>
                </a:solidFill>
              </a:rPr>
              <a:t>相似度不是关键词命中，而是多维特征的结构化比较。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D18AD07E-35B2-45EF-9272-46A8F86B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0287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659"/>
                </a:solidFill>
              </a:defRPr>
            </a:pPr>
            <a:r>
              <a:rPr sz="1350" b="1">
                <a:solidFill>
                  <a:srgbClr val="6F6659"/>
                </a:solidFill>
              </a:rPr>
              <a:t>07</a:t>
            </a:r>
          </a:p>
        </p:txBody>
      </p:sp>
      <p:sp>
        <p:nvSpPr>
          <p:cNvPr id="6" name="chip-类别">
            <a:extLst xmlns:a="http://schemas.openxmlformats.org/drawingml/2006/main">
              <a:ext uri="{FF2B5EF4-FFF2-40B4-BE49-F238E27FC236}">
                <a16:creationId xmlns:a16="http://schemas.microsoft.com/office/drawing/2014/main" id="{7CEB18CD-1FE4-409E-A99F-4A36896FA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952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75014-D739-4A81-95A5-FA2A6EAA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类别</a:t>
            </a:r>
          </a:p>
        </p:txBody>
      </p:sp>
      <p:sp>
        <p:nvSpPr>
          <p:cNvPr id="8" name="chip-朝代">
            <a:extLst xmlns:a="http://schemas.openxmlformats.org/drawingml/2006/main">
              <a:ext uri="{FF2B5EF4-FFF2-40B4-BE49-F238E27FC236}">
                <a16:creationId xmlns:a16="http://schemas.microsoft.com/office/drawing/2014/main" id="{B1A2B1F6-176F-4B59-B095-9DF98D11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886325"/>
            <a:ext cx="952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B3A5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74EE9-FC9D-4B6A-A45D-03441E268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101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朝代</a:t>
            </a:r>
          </a:p>
        </p:txBody>
      </p:sp>
      <p:sp>
        <p:nvSpPr>
          <p:cNvPr id="10" name="chip-屋顶">
            <a:extLst xmlns:a="http://schemas.openxmlformats.org/drawingml/2006/main">
              <a:ext uri="{FF2B5EF4-FFF2-40B4-BE49-F238E27FC236}">
                <a16:creationId xmlns:a16="http://schemas.microsoft.com/office/drawing/2014/main" id="{482F66AE-38D6-4FCF-A99C-A4FF7B92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86325"/>
            <a:ext cx="952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E83DD-C5CC-4E71-8C13-67654A37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101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屋顶</a:t>
            </a:r>
          </a:p>
        </p:txBody>
      </p:sp>
      <p:sp>
        <p:nvSpPr>
          <p:cNvPr id="12" name="chip-结构">
            <a:extLst xmlns:a="http://schemas.openxmlformats.org/drawingml/2006/main">
              <a:ext uri="{FF2B5EF4-FFF2-40B4-BE49-F238E27FC236}">
                <a16:creationId xmlns:a16="http://schemas.microsoft.com/office/drawing/2014/main" id="{08A5A4AC-4FD2-4324-B87F-7E53E946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72125"/>
            <a:ext cx="952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631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7DD6B-D263-4A8F-991A-E6391BE4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结构</a:t>
            </a:r>
          </a:p>
        </p:txBody>
      </p:sp>
      <p:sp>
        <p:nvSpPr>
          <p:cNvPr id="14" name="chip-材料">
            <a:extLst xmlns:a="http://schemas.openxmlformats.org/drawingml/2006/main">
              <a:ext uri="{FF2B5EF4-FFF2-40B4-BE49-F238E27FC236}">
                <a16:creationId xmlns:a16="http://schemas.microsoft.com/office/drawing/2014/main" id="{D9B7CFBF-45CB-4B70-B753-C8A1DD71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572125"/>
            <a:ext cx="952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5E2452-A8CE-4BEE-B3E3-CA2C534B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95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材料</a:t>
            </a:r>
          </a:p>
        </p:txBody>
      </p:sp>
      <p:sp>
        <p:nvSpPr>
          <p:cNvPr id="16" name="chip-工艺">
            <a:extLst xmlns:a="http://schemas.openxmlformats.org/drawingml/2006/main">
              <a:ext uri="{FF2B5EF4-FFF2-40B4-BE49-F238E27FC236}">
                <a16:creationId xmlns:a16="http://schemas.microsoft.com/office/drawing/2014/main" id="{DEC646A4-9DE9-40CD-938C-0F3F6C9E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72125"/>
            <a:ext cx="952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B3A5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33C38-C051-4839-BE91-D43E5DDA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95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工艺</a:t>
            </a:r>
          </a:p>
        </p:txBody>
      </p:sp>
      <p:sp>
        <p:nvSpPr>
          <p:cNvPr id="18" name="chip-影响因子">
            <a:extLst xmlns:a="http://schemas.openxmlformats.org/drawingml/2006/main">
              <a:ext uri="{FF2B5EF4-FFF2-40B4-BE49-F238E27FC236}">
                <a16:creationId xmlns:a16="http://schemas.microsoft.com/office/drawing/2014/main" id="{95852FC6-94B7-4EA7-9898-D9A8FE6E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57925"/>
            <a:ext cx="1409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D28C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FFAAC-4289-492A-966F-B70C7363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381750"/>
            <a:ext cx="91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影响因子</a:t>
            </a:r>
          </a:p>
        </p:txBody>
      </p:sp>
      <p:sp>
        <p:nvSpPr>
          <p:cNvPr id="20" name="chip-文化地位">
            <a:extLst xmlns:a="http://schemas.openxmlformats.org/drawingml/2006/main">
              <a:ext uri="{FF2B5EF4-FFF2-40B4-BE49-F238E27FC236}">
                <a16:creationId xmlns:a16="http://schemas.microsoft.com/office/drawing/2014/main" id="{71352FBA-B096-4610-81F0-3AA4B0F5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57925"/>
            <a:ext cx="1409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631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21A9F-ADB7-4BF9-9E7F-E1E53E0C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381750"/>
            <a:ext cx="914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文化地位</a:t>
            </a:r>
          </a:p>
        </p:txBody>
      </p:sp>
      <p:sp>
        <p:nvSpPr>
          <p:cNvPr id="22" name="algo-claim">
            <a:extLst xmlns:a="http://schemas.openxmlformats.org/drawingml/2006/main">
              <a:ext uri="{FF2B5EF4-FFF2-40B4-BE49-F238E27FC236}">
                <a16:creationId xmlns:a16="http://schemas.microsoft.com/office/drawing/2014/main" id="{547DE22B-4893-4CEE-9AB4-D880B015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43450"/>
            <a:ext cx="8248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E2D4"/>
                </a:solidFill>
              </a:defRPr>
            </a:pPr>
            <a:r>
              <a:rPr sz="4050" b="1">
                <a:solidFill>
                  <a:srgbClr val="EAE2D4"/>
                </a:solidFill>
              </a:rPr>
              <a:t>输出的不只是分数</a:t>
            </a:r>
          </a:p>
        </p:txBody>
      </p:sp>
      <p:sp>
        <p:nvSpPr>
          <p:cNvPr id="23" name="algo-copy">
            <a:extLst xmlns:a="http://schemas.openxmlformats.org/drawingml/2006/main">
              <a:ext uri="{FF2B5EF4-FFF2-40B4-BE49-F238E27FC236}">
                <a16:creationId xmlns:a16="http://schemas.microsoft.com/office/drawing/2014/main" id="{51DAEDE7-BBAF-4CF5-8994-257FB72A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86400"/>
            <a:ext cx="685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FA79A"/>
                </a:solidFill>
              </a:defRPr>
            </a:pPr>
            <a:r>
              <a:rPr sz="2250">
                <a:solidFill>
                  <a:srgbClr val="AFA79A"/>
                </a:solidFill>
              </a:rPr>
              <a:t>系统同时给出推荐对象、匹配维度与跳转路径，评委能看到算法如何服务学习体验。</a:t>
            </a:r>
          </a:p>
        </p:txBody>
      </p:sp>
      <p:sp>
        <p:nvSpPr>
          <p:cNvPr id="24" name="algo-rule">
            <a:extLst xmlns:a="http://schemas.openxmlformats.org/drawingml/2006/main">
              <a:ext uri="{FF2B5EF4-FFF2-40B4-BE49-F238E27FC236}">
                <a16:creationId xmlns:a16="http://schemas.microsoft.com/office/drawing/2014/main" id="{749BB9DB-1C59-406B-9431-2B5ACF9E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2865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4E"/>
          </a:solidFill>
          <a:ln xmlns:a="http://schemas.openxmlformats.org/drawingml/2006/main" w="0">
            <a:solidFill>
              <a:srgbClr val="D8A84E"/>
            </a:solidFill>
            <a:prstDash val="solid"/>
          </a:ln>
        </p:spPr>
      </p:sp>
      <p:sp>
        <p:nvSpPr>
          <p:cNvPr id="25" name="algo-quote">
            <a:extLst xmlns:a="http://schemas.openxmlformats.org/drawingml/2006/main">
              <a:ext uri="{FF2B5EF4-FFF2-40B4-BE49-F238E27FC236}">
                <a16:creationId xmlns:a16="http://schemas.microsoft.com/office/drawing/2014/main" id="{2761AD50-A3C4-454A-A3F3-757E7053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53200"/>
            <a:ext cx="6115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D28C"/>
                </a:solidFill>
              </a:defRPr>
            </a:pPr>
            <a:r>
              <a:rPr sz="2550" b="1">
                <a:solidFill>
                  <a:srgbClr val="F2D28C"/>
                </a:solidFill>
              </a:rPr>
              <a:t>“找得到相似建筑，也讲得清为什么相似。”</a:t>
            </a:r>
          </a:p>
        </p:txBody>
      </p:sp>
    </p:spTree>
    <p:extLst>
      <p:ext uri="{BB962C8B-B14F-4D97-AF65-F5344CB8AC3E}">
        <p14:creationId xmlns:p14="http://schemas.microsoft.com/office/powerpoint/2010/main" val="6045420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B6BA6CBD-03B3-407A-8D55-346EDF23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700B5739-D023-4015-841A-CD3E05D7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ACA69A-8328-43E4-8012-ECEBE313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"/>
            <a:ext cx="931545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E2D4"/>
                </a:solidFill>
              </a:defRPr>
            </a:pPr>
            <a:r>
              <a:rPr sz="4050" b="1">
                <a:solidFill>
                  <a:srgbClr val="EAE2D4"/>
                </a:solidFill>
              </a:rPr>
              <a:t>AI 古建筑导师：不是聊天框，是认知导航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B83086-3F5F-48B2-B4F9-4B81E72F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55054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FA79A"/>
                </a:solidFill>
              </a:defRPr>
            </a:pPr>
            <a:r>
              <a:rPr sz="1800">
                <a:solidFill>
                  <a:srgbClr val="AFA79A"/>
                </a:solidFill>
              </a:rPr>
              <a:t>AI 回答会结合当前页面语境，并推荐继续探索的模块。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84A7F7A7-78C9-4CCB-BF4E-F6D7D8FC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4097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659"/>
                </a:solidFill>
              </a:defRPr>
            </a:pPr>
            <a:r>
              <a:rPr sz="1350" b="1">
                <a:solidFill>
                  <a:srgbClr val="6F6659"/>
                </a:solidFill>
              </a:rPr>
              <a:t>08</a:t>
            </a:r>
          </a:p>
        </p:txBody>
      </p:sp>
      <p:sp>
        <p:nvSpPr>
          <p:cNvPr id="6" name="ai-title-1">
            <a:extLst xmlns:a="http://schemas.openxmlformats.org/drawingml/2006/main">
              <a:ext uri="{FF2B5EF4-FFF2-40B4-BE49-F238E27FC236}">
                <a16:creationId xmlns:a16="http://schemas.microsoft.com/office/drawing/2014/main" id="{014D1849-49D4-4295-B881-8DB00BAA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4591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2D28C"/>
                </a:solidFill>
              </a:defRPr>
            </a:pPr>
            <a:r>
              <a:rPr sz="3300" b="1">
                <a:solidFill>
                  <a:srgbClr val="F2D28C"/>
                </a:solidFill>
              </a:rPr>
              <a:t>页面语境</a:t>
            </a:r>
          </a:p>
        </p:txBody>
      </p:sp>
      <p:sp>
        <p:nvSpPr>
          <p:cNvPr id="7" name="ai-copy-1">
            <a:extLst xmlns:a="http://schemas.openxmlformats.org/drawingml/2006/main">
              <a:ext uri="{FF2B5EF4-FFF2-40B4-BE49-F238E27FC236}">
                <a16:creationId xmlns:a16="http://schemas.microsoft.com/office/drawing/2014/main" id="{0AC797AE-745A-43BE-A26A-2974A465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29350"/>
            <a:ext cx="381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AFA79A"/>
                </a:solidFill>
              </a:defRPr>
            </a:pPr>
            <a:r>
              <a:rPr sz="1875">
                <a:solidFill>
                  <a:srgbClr val="AFA79A"/>
                </a:solidFill>
              </a:rPr>
              <a:t>斗拱、星图、桥梁、院落等不同模块拥有不同提示词背景</a:t>
            </a:r>
          </a:p>
        </p:txBody>
      </p:sp>
      <p:sp>
        <p:nvSpPr>
          <p:cNvPr id="8" name="ai-arrow-1">
            <a:extLst xmlns:a="http://schemas.openxmlformats.org/drawingml/2006/main">
              <a:ext uri="{FF2B5EF4-FFF2-40B4-BE49-F238E27FC236}">
                <a16:creationId xmlns:a16="http://schemas.microsoft.com/office/drawing/2014/main" id="{F3F749DC-38CD-4F6C-AAB6-4D97D34B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62250"/>
            <a:ext cx="857250" cy="683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54452D"/>
                </a:solidFill>
              </a:defRPr>
            </a:pPr>
            <a:r>
              <a:rPr sz="5700" b="1">
                <a:solidFill>
                  <a:srgbClr val="54452D"/>
                </a:solidFill>
              </a:rPr>
              <a:t>→</a:t>
            </a:r>
          </a:p>
        </p:txBody>
      </p:sp>
      <p:sp>
        <p:nvSpPr>
          <p:cNvPr id="9" name="ai-title-2">
            <a:extLst xmlns:a="http://schemas.openxmlformats.org/drawingml/2006/main">
              <a:ext uri="{FF2B5EF4-FFF2-40B4-BE49-F238E27FC236}">
                <a16:creationId xmlns:a16="http://schemas.microsoft.com/office/drawing/2014/main" id="{FDCE5C8E-AF31-42F0-883C-ED7375B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76900"/>
            <a:ext cx="4591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FB3A5"/>
                </a:solidFill>
              </a:defRPr>
            </a:pPr>
            <a:r>
              <a:rPr sz="3300" b="1">
                <a:solidFill>
                  <a:srgbClr val="5FB3A5"/>
                </a:solidFill>
              </a:rPr>
              <a:t>智能问答</a:t>
            </a:r>
          </a:p>
        </p:txBody>
      </p:sp>
      <p:sp>
        <p:nvSpPr>
          <p:cNvPr id="10" name="ai-copy-2">
            <a:extLst xmlns:a="http://schemas.openxmlformats.org/drawingml/2006/main">
              <a:ext uri="{FF2B5EF4-FFF2-40B4-BE49-F238E27FC236}">
                <a16:creationId xmlns:a16="http://schemas.microsoft.com/office/drawing/2014/main" id="{20724304-E9BB-4A3B-8EA0-D4C90062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29350"/>
            <a:ext cx="381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AFA79A"/>
                </a:solidFill>
              </a:defRPr>
            </a:pPr>
            <a:r>
              <a:rPr sz="1875">
                <a:solidFill>
                  <a:srgbClr val="AFA79A"/>
                </a:solidFill>
              </a:rPr>
              <a:t>回答不脱离当前对象，适合现场追问和专业解释</a:t>
            </a:r>
          </a:p>
        </p:txBody>
      </p:sp>
      <p:sp>
        <p:nvSpPr>
          <p:cNvPr id="11" name="ai-arrow-2">
            <a:extLst xmlns:a="http://schemas.openxmlformats.org/drawingml/2006/main">
              <a:ext uri="{FF2B5EF4-FFF2-40B4-BE49-F238E27FC236}">
                <a16:creationId xmlns:a16="http://schemas.microsoft.com/office/drawing/2014/main" id="{B770BE65-BAF4-4F2F-9904-1E323486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2762250"/>
            <a:ext cx="857250" cy="6838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54452D"/>
                </a:solidFill>
              </a:defRPr>
            </a:pPr>
            <a:r>
              <a:rPr sz="5700" b="1">
                <a:solidFill>
                  <a:srgbClr val="54452D"/>
                </a:solidFill>
              </a:rPr>
              <a:t>→</a:t>
            </a:r>
          </a:p>
        </p:txBody>
      </p:sp>
      <p:sp>
        <p:nvSpPr>
          <p:cNvPr id="12" name="ai-title-3">
            <a:extLst xmlns:a="http://schemas.openxmlformats.org/drawingml/2006/main">
              <a:ext uri="{FF2B5EF4-FFF2-40B4-BE49-F238E27FC236}">
                <a16:creationId xmlns:a16="http://schemas.microsoft.com/office/drawing/2014/main" id="{0BB7D37C-4DBD-473E-AC5D-552F5ED38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676900"/>
            <a:ext cx="45910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84631"/>
                </a:solidFill>
              </a:defRPr>
            </a:pPr>
            <a:r>
              <a:rPr sz="3300" b="1">
                <a:solidFill>
                  <a:srgbClr val="B84631"/>
                </a:solidFill>
              </a:rPr>
              <a:t>联动推荐</a:t>
            </a:r>
          </a:p>
        </p:txBody>
      </p:sp>
      <p:sp>
        <p:nvSpPr>
          <p:cNvPr id="13" name="ai-copy-3">
            <a:extLst xmlns:a="http://schemas.openxmlformats.org/drawingml/2006/main">
              <a:ext uri="{FF2B5EF4-FFF2-40B4-BE49-F238E27FC236}">
                <a16:creationId xmlns:a16="http://schemas.microsoft.com/office/drawing/2014/main" id="{84AA1F39-B618-4C7B-B1AE-EF909470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229350"/>
            <a:ext cx="3810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AFA79A"/>
                </a:solidFill>
              </a:defRPr>
            </a:pPr>
            <a:r>
              <a:rPr sz="1875">
                <a:solidFill>
                  <a:srgbClr val="AFA79A"/>
                </a:solidFill>
              </a:rPr>
              <a:t>从回答直接进入更适合深入查看的页面或对象</a:t>
            </a:r>
          </a:p>
        </p:txBody>
      </p:sp>
    </p:spTree>
    <p:extLst>
      <p:ext uri="{BB962C8B-B14F-4D97-AF65-F5344CB8AC3E}">
        <p14:creationId xmlns:p14="http://schemas.microsoft.com/office/powerpoint/2010/main" val="742267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2142465-4CB6-438B-9BF9-56DDA40E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B111139E-EA53-4A07-A6A5-7BE98FB0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9B0CC7-03BA-4857-9AA9-AE95A047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85800"/>
            <a:ext cx="874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E2D4"/>
                </a:solidFill>
              </a:defRPr>
            </a:pPr>
            <a:r>
              <a:rPr sz="4050" b="1">
                <a:solidFill>
                  <a:srgbClr val="EAE2D4"/>
                </a:solidFill>
              </a:rPr>
              <a:t>工程完成度：面向真实展示环境做交付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BC6BC3-DC2B-4B75-A937-9DE06A46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3500"/>
            <a:ext cx="457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FA79A"/>
                </a:solidFill>
              </a:defRPr>
            </a:pPr>
            <a:r>
              <a:rPr sz="1800">
                <a:solidFill>
                  <a:srgbClr val="AFA79A"/>
                </a:solidFill>
              </a:rPr>
              <a:t>答辩现场最重要的是稳定、可演示、可解释。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1F3E0190-807C-4176-B7CE-A0F307B4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35400" y="1028700"/>
            <a:ext cx="762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659"/>
                </a:solidFill>
              </a:defRPr>
            </a:pPr>
            <a:r>
              <a:rPr sz="1350" b="1">
                <a:solidFill>
                  <a:srgbClr val="6F6659"/>
                </a:solidFill>
              </a:rPr>
              <a:t>09</a:t>
            </a:r>
          </a:p>
        </p:txBody>
      </p:sp>
      <p:sp>
        <p:nvSpPr>
          <p:cNvPr id="6" name="metric-value-浏览器零安装访问">
            <a:extLst xmlns:a="http://schemas.openxmlformats.org/drawingml/2006/main">
              <a:ext uri="{FF2B5EF4-FFF2-40B4-BE49-F238E27FC236}">
                <a16:creationId xmlns:a16="http://schemas.microsoft.com/office/drawing/2014/main" id="{BF66CEFF-65B7-48DC-B7AE-8473C05B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516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8A84E"/>
                </a:solidFill>
              </a:defRPr>
            </a:pPr>
            <a:r>
              <a:rPr sz="4200" b="1">
                <a:solidFill>
                  <a:srgbClr val="D8A84E"/>
                </a:solidFill>
              </a:rPr>
              <a:t>Web</a:t>
            </a:r>
          </a:p>
        </p:txBody>
      </p:sp>
      <p:sp>
        <p:nvSpPr>
          <p:cNvPr id="7" name="metric-label-浏览器零安装访问">
            <a:extLst xmlns:a="http://schemas.openxmlformats.org/drawingml/2006/main">
              <a:ext uri="{FF2B5EF4-FFF2-40B4-BE49-F238E27FC236}">
                <a16:creationId xmlns:a16="http://schemas.microsoft.com/office/drawing/2014/main" id="{20361D8F-17B0-43E8-9341-A4A2724A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浏览器零安装访问</a:t>
            </a:r>
          </a:p>
        </p:txBody>
      </p:sp>
      <p:sp>
        <p:nvSpPr>
          <p:cNvPr id="8" name="metric-value-手机端空间沉浸展示">
            <a:extLst xmlns:a="http://schemas.openxmlformats.org/drawingml/2006/main">
              <a:ext uri="{FF2B5EF4-FFF2-40B4-BE49-F238E27FC236}">
                <a16:creationId xmlns:a16="http://schemas.microsoft.com/office/drawing/2014/main" id="{DCCF9851-1BF8-4F70-BB76-0AC4299D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516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5FB3A5"/>
                </a:solidFill>
              </a:defRPr>
            </a:pPr>
            <a:r>
              <a:rPr sz="4200" b="1">
                <a:solidFill>
                  <a:srgbClr val="5FB3A5"/>
                </a:solidFill>
              </a:rPr>
              <a:t>AR</a:t>
            </a:r>
          </a:p>
        </p:txBody>
      </p:sp>
      <p:sp>
        <p:nvSpPr>
          <p:cNvPr id="9" name="metric-label-手机端空间沉浸展示">
            <a:extLst xmlns:a="http://schemas.openxmlformats.org/drawingml/2006/main">
              <a:ext uri="{FF2B5EF4-FFF2-40B4-BE49-F238E27FC236}">
                <a16:creationId xmlns:a16="http://schemas.microsoft.com/office/drawing/2014/main" id="{AD4DD3DD-9E6F-416B-BBC9-300ECBA1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6700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手机端空间沉浸展示</a:t>
            </a:r>
          </a:p>
        </p:txBody>
      </p:sp>
      <p:sp>
        <p:nvSpPr>
          <p:cNvPr id="10" name="metric-value-Windows 安装包运行">
            <a:extLst xmlns:a="http://schemas.openxmlformats.org/drawingml/2006/main">
              <a:ext uri="{FF2B5EF4-FFF2-40B4-BE49-F238E27FC236}">
                <a16:creationId xmlns:a16="http://schemas.microsoft.com/office/drawing/2014/main" id="{9EA92299-B290-4F83-A433-BC540055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057400"/>
            <a:ext cx="51625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84631"/>
                </a:solidFill>
              </a:defRPr>
            </a:pPr>
            <a:r>
              <a:rPr sz="4200" b="1">
                <a:solidFill>
                  <a:srgbClr val="B84631"/>
                </a:solidFill>
              </a:rPr>
              <a:t>Desktop</a:t>
            </a:r>
          </a:p>
        </p:txBody>
      </p:sp>
      <p:sp>
        <p:nvSpPr>
          <p:cNvPr id="11" name="metric-label-Windows 安装包运行">
            <a:extLst xmlns:a="http://schemas.openxmlformats.org/drawingml/2006/main">
              <a:ext uri="{FF2B5EF4-FFF2-40B4-BE49-F238E27FC236}">
                <a16:creationId xmlns:a16="http://schemas.microsoft.com/office/drawing/2014/main" id="{878470D3-96B8-431B-9ABB-96EA6F0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667000"/>
            <a:ext cx="5162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A79A"/>
                </a:solidFill>
              </a:defRPr>
            </a:pPr>
            <a:r>
              <a:rPr sz="1575">
                <a:solidFill>
                  <a:srgbClr val="AFA79A"/>
                </a:solidFill>
              </a:rPr>
              <a:t>Windows 安装包运行</a:t>
            </a:r>
          </a:p>
        </p:txBody>
      </p:sp>
      <p:sp>
        <p:nvSpPr>
          <p:cNvPr id="12" name="chip-页面级错误边界">
            <a:extLst xmlns:a="http://schemas.openxmlformats.org/drawingml/2006/main">
              <a:ext uri="{FF2B5EF4-FFF2-40B4-BE49-F238E27FC236}">
                <a16:creationId xmlns:a16="http://schemas.microsoft.com/office/drawing/2014/main" id="{888180E8-83DD-49A1-927D-88A8371D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9124950"/>
            <a:ext cx="2095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C7BDC5-FB50-434F-AA06-7417AE0A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258300"/>
            <a:ext cx="1600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页面级错误边界</a:t>
            </a:r>
          </a:p>
        </p:txBody>
      </p:sp>
      <p:sp>
        <p:nvSpPr>
          <p:cNvPr id="14" name="chip-模块化路由组织">
            <a:extLst xmlns:a="http://schemas.openxmlformats.org/drawingml/2006/main">
              <a:ext uri="{FF2B5EF4-FFF2-40B4-BE49-F238E27FC236}">
                <a16:creationId xmlns:a16="http://schemas.microsoft.com/office/drawing/2014/main" id="{3C7776D0-14E3-412D-B681-2EC419AD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9124950"/>
            <a:ext cx="20955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B3A5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ED87C6-817B-455C-98A6-29578D9E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258300"/>
            <a:ext cx="1600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模块化路由组织</a:t>
            </a:r>
          </a:p>
        </p:txBody>
      </p:sp>
      <p:sp>
        <p:nvSpPr>
          <p:cNvPr id="16" name="chip-演示链路可控">
            <a:extLst xmlns:a="http://schemas.openxmlformats.org/drawingml/2006/main">
              <a:ext uri="{FF2B5EF4-FFF2-40B4-BE49-F238E27FC236}">
                <a16:creationId xmlns:a16="http://schemas.microsoft.com/office/drawing/2014/main" id="{65357331-8F50-4173-BA04-E95EBCA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9124950"/>
            <a:ext cx="18669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631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6FC70-9E5D-4136-B58E-211E78DD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925830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演示链路可控</a:t>
            </a:r>
          </a:p>
        </p:txBody>
      </p:sp>
    </p:spTree>
    <p:extLst>
      <p:ext uri="{BB962C8B-B14F-4D97-AF65-F5344CB8AC3E}">
        <p14:creationId xmlns:p14="http://schemas.microsoft.com/office/powerpoint/2010/main" val="3688543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9F91A63-C75F-4975-98C0-24A6879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D"/>
          </a:solidFill>
          <a:ln xmlns:a="http://schemas.openxmlformats.org/drawingml/2006/main" w="0">
            <a:prstDash val="solid"/>
          </a:ln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D50F756C-447E-4F16-AB2E-63DEC4EE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51A"/>
          </a:solidFill>
          <a:ln xmlns:a="http://schemas.openxmlformats.org/drawingml/2006/main" w="0">
            <a:prstDash val="solid"/>
          </a:ln>
        </p:spPr>
      </p:sp>
      <p:sp>
        <p:nvSpPr>
          <p:cNvPr id="3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BE42C2F1-2AC9-4C3A-988D-494A1E36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8515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D28C"/>
                </a:solidFill>
              </a:defRPr>
            </a:pPr>
            <a:r>
              <a:rPr sz="2250" b="1">
                <a:solidFill>
                  <a:srgbClr val="F2D28C"/>
                </a:solidFill>
              </a:rPr>
              <a:t>我们的核心表达</a:t>
            </a:r>
          </a:p>
        </p:txBody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48FC06B4-958F-41E9-AACE-FE0BFA73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8001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EAE2D4"/>
                </a:solidFill>
              </a:defRPr>
            </a:pPr>
            <a:r>
              <a:rPr sz="5250" b="1">
                <a:solidFill>
                  <a:srgbClr val="EAE2D4"/>
                </a:solidFill>
              </a:rPr>
              <a:t>用现代计算技术，重构古建筑知识的观看、理解与传播方式。</a:t>
            </a:r>
          </a:p>
        </p:txBody>
      </p:sp>
      <p:sp>
        <p:nvSpPr>
          <p:cNvPr id="5" name="closing-sub">
            <a:extLst xmlns:a="http://schemas.openxmlformats.org/drawingml/2006/main">
              <a:ext uri="{FF2B5EF4-FFF2-40B4-BE49-F238E27FC236}">
                <a16:creationId xmlns:a16="http://schemas.microsoft.com/office/drawing/2014/main" id="{06F2387E-0B69-4AB6-9850-C87638B2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248400"/>
            <a:ext cx="7143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FA79A"/>
                </a:solidFill>
              </a:defRPr>
            </a:pPr>
            <a:r>
              <a:rPr sz="2250">
                <a:solidFill>
                  <a:srgbClr val="AFA79A"/>
                </a:solidFill>
              </a:rPr>
              <a:t>省赛答辩重点：文化价值清晰、技术链路完整、创新点可演示、作品可交付。</a:t>
            </a:r>
          </a:p>
        </p:txBody>
      </p:sp>
      <p:sp>
        <p:nvSpPr>
          <p:cNvPr id="6" name="chip-1. 先讲问题">
            <a:extLst xmlns:a="http://schemas.openxmlformats.org/drawingml/2006/main">
              <a:ext uri="{FF2B5EF4-FFF2-40B4-BE49-F238E27FC236}">
                <a16:creationId xmlns:a16="http://schemas.microsoft.com/office/drawing/2014/main" id="{B33B58B9-EACE-425B-AD3C-6F9AAE4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330" y="3876675"/>
            <a:ext cx="16383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4F2B9-626B-46BC-ACE8-373F0879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00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1. 先讲问题</a:t>
            </a:r>
          </a:p>
        </p:txBody>
      </p:sp>
      <p:sp>
        <p:nvSpPr>
          <p:cNvPr id="8" name="chip-2. 再演示系统">
            <a:extLst xmlns:a="http://schemas.openxmlformats.org/drawingml/2006/main">
              <a:ext uri="{FF2B5EF4-FFF2-40B4-BE49-F238E27FC236}">
                <a16:creationId xmlns:a16="http://schemas.microsoft.com/office/drawing/2014/main" id="{81827B79-FF78-47B5-B020-105E9D21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330" y="4562475"/>
            <a:ext cx="18669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FB3A5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1C392-AB4C-4C80-A945-CDC7949A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686300"/>
            <a:ext cx="137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2. 再演示系统</a:t>
            </a:r>
          </a:p>
        </p:txBody>
      </p:sp>
      <p:sp>
        <p:nvSpPr>
          <p:cNvPr id="10" name="chip-3. 强调创新">
            <a:extLst xmlns:a="http://schemas.openxmlformats.org/drawingml/2006/main">
              <a:ext uri="{FF2B5EF4-FFF2-40B4-BE49-F238E27FC236}">
                <a16:creationId xmlns:a16="http://schemas.microsoft.com/office/drawing/2014/main" id="{6F6640AC-5074-4A8D-866A-59D78BE5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330" y="5248275"/>
            <a:ext cx="16383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4631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895CF-0D4F-4B84-8318-55A38E57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53721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3. 强调创新</a:t>
            </a:r>
          </a:p>
        </p:txBody>
      </p:sp>
      <p:sp>
        <p:nvSpPr>
          <p:cNvPr id="12" name="chip-4. 落到交付">
            <a:extLst xmlns:a="http://schemas.openxmlformats.org/drawingml/2006/main">
              <a:ext uri="{FF2B5EF4-FFF2-40B4-BE49-F238E27FC236}">
                <a16:creationId xmlns:a16="http://schemas.microsoft.com/office/drawing/2014/main" id="{05B5142D-25B3-4CED-B615-0BA5764A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0330" y="5934075"/>
            <a:ext cx="16383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A84E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93BF6-5645-428C-8FF8-AB4BCCEC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05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0A0D"/>
                </a:solidFill>
              </a:defRPr>
            </a:pPr>
            <a:r>
              <a:rPr sz="1800" b="1">
                <a:solidFill>
                  <a:srgbClr val="070A0D"/>
                </a:solidFill>
              </a:rPr>
              <a:t>4. 落到交付</a:t>
            </a:r>
          </a:p>
        </p:txBody>
      </p:sp>
    </p:spTree>
    <p:extLst>
      <p:ext uri="{BB962C8B-B14F-4D97-AF65-F5344CB8AC3E}">
        <p14:creationId xmlns:p14="http://schemas.microsoft.com/office/powerpoint/2010/main" val="1618491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2026-04-26T05:31:28.4440000Z</dcterms:created>
  <dcterms:modified xsi:type="dcterms:W3CDTF">2026-04-26T05:31:28.4440000Z</dcterms:modified>
</coreProperties>
</file>